
<file path=[Content_Types].xml><?xml version="1.0" encoding="utf-8"?>
<Types xmlns="http://schemas.openxmlformats.org/package/2006/content-types">
  <Default ContentType="application/x-fontdata" Extension="fntdata"/>
  <Default ContentType="image/jpeg" Extension="jpeg"/>
  <Default ContentType="image/png" Extension="png"/>
  <Default ContentType="application/vnd.openxmlformats-package.relationships+xml" Extension="rels"/>
  <Default ContentType="application/xml" Extension="xml"/>
  <Override ContentType="application/vnd.openxmlformats-officedocument.extended-properties+xml" PartName="/docProps/app.xml"/>
  <Override ContentType="application/vnd.openxmlformats-package.core-properties+xml" PartName="/docProps/core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11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4.xml"/>
  <Override ContentType="application/vnd.openxmlformats-officedocument.presentationml.slide+xml" PartName="/ppt/slides/slide5.xml"/>
  <Override ContentType="application/vnd.openxmlformats-officedocument.presentationml.slide+xml" PartName="/ppt/slides/slide6.xml"/>
  <Override ContentType="application/vnd.openxmlformats-officedocument.presentationml.slide+xml" PartName="/ppt/slides/slide7.xml"/>
  <Override ContentType="application/vnd.openxmlformats-officedocument.presentationml.slide+xml" PartName="/ppt/slides/slide8.xml"/>
  <Override ContentType="application/vnd.openxmlformats-officedocument.presentationml.slide+xml" PartName="/ppt/slides/slide9.xml"/>
  <Override ContentType="application/vnd.openxmlformats-officedocument.presentationml.slide+xml" PartName="/ppt/slides/slide10.xml"/>
  <Override ContentType="application/vnd.openxmlformats-officedocument.presentationml.slide+xml" PartName="/ppt/slides/slide11.xml"/>
  <Override ContentType="application/vnd.openxmlformats-officedocument.presentationml.slide+xml" PartName="/ppt/slides/slide12.xml"/>
  <Override ContentType="application/vnd.openxmlformats-officedocument.presentationml.slide+xml" PartName="/ppt/slides/slide13.xml"/>
  <Override ContentType="application/vnd.openxmlformats-officedocument.presentationml.slide+xml" PartName="/ppt/slides/slide14.xml"/>
  <Override ContentType="application/vnd.openxmlformats-officedocument.presentationml.slide+xml" PartName="/ppt/slides/slide15.xml"/>
  <Override ContentType="application/vnd.openxmlformats-officedocument.presentationml.slide+xml" PartName="/ppt/slides/slide16.xml"/>
  <Override ContentType="application/vnd.openxmlformats-officedocument.presentationml.slide+xml" PartName="/ppt/slides/slide17.xml"/>
  <Override ContentType="application/vnd.openxmlformats-officedocument.presentationml.slide+xml" PartName="/ppt/slides/slide18.xml"/>
  <Override ContentType="application/vnd.openxmlformats-officedocument.presentationml.slide+xml" PartName="/ppt/slides/slide19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22.xml"/>
  <Override ContentType="application/vnd.openxmlformats-officedocument.presentationml.slide+xml" PartName="/ppt/slides/slide23.xml"/>
  <Override ContentType="application/vnd.openxmlformats-officedocument.presentationml.slide+xml" PartName="/ppt/slides/slide24.xml"/>
  <Override ContentType="application/vnd.openxmlformats-officedocument.presentationml.slide+xml" PartName="/ppt/slides/slide25.xml"/>
  <Override ContentType="application/vnd.openxmlformats-officedocument.presentationml.slide+xml" PartName="/ppt/slides/slide26.xml"/>
  <Override ContentType="application/vnd.openxmlformats-officedocument.presentationml.slide+xml" PartName="/ppt/slides/slide27.xml"/>
  <Override ContentType="application/vnd.openxmlformats-officedocument.presentationml.slide+xml" PartName="/ppt/slides/slide28.xml"/>
  <Override ContentType="application/vnd.openxmlformats-officedocument.presentationml.slide+xml" PartName="/ppt/slides/slide29.xml"/>
  <Override ContentType="application/vnd.openxmlformats-officedocument.presentationml.slide+xml" PartName="/ppt/slides/slide30.xml"/>
  <Override ContentType="application/vnd.openxmlformats-officedocument.presentationml.slide+xml" PartName="/ppt/slides/slide31.xml"/>
  <Override ContentType="application/vnd.openxmlformats-officedocument.presentationml.slide+xml" PartName="/ppt/slides/slide32.xml"/>
  <Override ContentType="application/vnd.openxmlformats-officedocument.presentationml.slide+xml" PartName="/ppt/slides/slide33.xml"/>
  <Override ContentType="application/vnd.openxmlformats-officedocument.presentationml.slide+xml" PartName="/ppt/slides/slide34.xml"/>
  <Override ContentType="application/vnd.openxmlformats-officedocument.presentationml.slide+xml" PartName="/ppt/slides/slide35.xml"/>
  <Override ContentType="application/vnd.openxmlformats-officedocument.presentationml.slide+xml" PartName="/ppt/slides/slide36.xml"/>
  <Override ContentType="application/vnd.openxmlformats-officedocument.presentationml.slide+xml" PartName="/ppt/slides/slide37.xml"/>
  <Override ContentType="application/vnd.openxmlformats-officedocument.presentationml.slide+xml" PartName="/ppt/slides/slide38.xml"/>
  <Override ContentType="application/vnd.openxmlformats-officedocument.presentationml.tableStyles+xml" PartName="/ppt/tableStyles.xml"/>
  <Override ContentType="application/vnd.openxmlformats-officedocument.theme+xml" PartName="/ppt/theme/theme1.xml"/>
  <Override ContentType="application/vnd.openxmlformats-officedocument.presentationml.viewProps+xml" PartName="/ppt/viewProps.xml"/>
</Types>
</file>

<file path=_rels/.rels><?xml version="1.0" encoding="UTF-8" standalone="yes"?><Relationships xmlns="http://schemas.openxmlformats.org/package/2006/relationships"><Relationship Id="rId1" Target="ppt/presentation.xml" Type="http://schemas.openxmlformats.org/officeDocument/2006/relationships/officeDocument"/><Relationship Id="rId2" Target="docProps/thumbnail.jpeg" Type="http://schemas.openxmlformats.org/package/2006/relationships/metadata/thumbnail"/><Relationship Id="rId3" Target="docProps/core.xml" Type="http://schemas.openxmlformats.org/package/2006/relationships/metadata/core-properties"/><Relationship Id="rId4" Target="docProps/app.xml" Type="http://schemas.openxmlformats.org/officeDocument/2006/relationships/extended-properties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embedTrueTypeFonts="true">
  <p:sldMasterIdLst>
    <p:sldMasterId id="2147483648" r:id="rId1"/>
  </p:sld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</p:sldIdLst>
  <p:sldSz cx="18288000" cy="10287000"/>
  <p:notesSz cx="6858000" cy="9144000"/>
  <p:embeddedFontLst>
    <p:embeddedFont>
      <p:font typeface="League Spartan" charset="1" panose="00000800000000000000"/>
      <p:regular r:id="rId44"/>
    </p:embeddedFont>
    <p:embeddedFont>
      <p:font typeface="Montserrat Medium" charset="1" panose="00000600000000000000"/>
      <p:regular r:id="rId45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 autoAdjust="0"/>
    <p:restoredTop sz="94622" autoAdjust="0"/>
  </p:normalViewPr>
  <p:slideViewPr>
    <p:cSldViewPr>
      <p:cViewPr varScale="1">
        <p:scale>
          <a:sx n="74" d="100"/>
          <a:sy n="74" d="100"/>
        </p:scale>
        <p:origin x="-1092" y="-90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<Relationships xmlns="http://schemas.openxmlformats.org/package/2006/relationships"><Relationship Id="rId1" Target="slideMasters/slideMaster1.xml" Type="http://schemas.openxmlformats.org/officeDocument/2006/relationships/slideMaster"/><Relationship Id="rId10" Target="slides/slide5.xml" Type="http://schemas.openxmlformats.org/officeDocument/2006/relationships/slide"/><Relationship Id="rId11" Target="slides/slide6.xml" Type="http://schemas.openxmlformats.org/officeDocument/2006/relationships/slide"/><Relationship Id="rId12" Target="slides/slide7.xml" Type="http://schemas.openxmlformats.org/officeDocument/2006/relationships/slide"/><Relationship Id="rId13" Target="slides/slide8.xml" Type="http://schemas.openxmlformats.org/officeDocument/2006/relationships/slide"/><Relationship Id="rId14" Target="slides/slide9.xml" Type="http://schemas.openxmlformats.org/officeDocument/2006/relationships/slide"/><Relationship Id="rId15" Target="slides/slide10.xml" Type="http://schemas.openxmlformats.org/officeDocument/2006/relationships/slide"/><Relationship Id="rId16" Target="slides/slide11.xml" Type="http://schemas.openxmlformats.org/officeDocument/2006/relationships/slide"/><Relationship Id="rId17" Target="slides/slide12.xml" Type="http://schemas.openxmlformats.org/officeDocument/2006/relationships/slide"/><Relationship Id="rId18" Target="slides/slide13.xml" Type="http://schemas.openxmlformats.org/officeDocument/2006/relationships/slide"/><Relationship Id="rId19" Target="slides/slide14.xml" Type="http://schemas.openxmlformats.org/officeDocument/2006/relationships/slide"/><Relationship Id="rId2" Target="presProps.xml" Type="http://schemas.openxmlformats.org/officeDocument/2006/relationships/presProps"/><Relationship Id="rId20" Target="slides/slide15.xml" Type="http://schemas.openxmlformats.org/officeDocument/2006/relationships/slide"/><Relationship Id="rId21" Target="slides/slide16.xml" Type="http://schemas.openxmlformats.org/officeDocument/2006/relationships/slide"/><Relationship Id="rId22" Target="slides/slide17.xml" Type="http://schemas.openxmlformats.org/officeDocument/2006/relationships/slide"/><Relationship Id="rId23" Target="slides/slide18.xml" Type="http://schemas.openxmlformats.org/officeDocument/2006/relationships/slide"/><Relationship Id="rId24" Target="slides/slide19.xml" Type="http://schemas.openxmlformats.org/officeDocument/2006/relationships/slide"/><Relationship Id="rId25" Target="slides/slide20.xml" Type="http://schemas.openxmlformats.org/officeDocument/2006/relationships/slide"/><Relationship Id="rId26" Target="slides/slide21.xml" Type="http://schemas.openxmlformats.org/officeDocument/2006/relationships/slide"/><Relationship Id="rId27" Target="slides/slide22.xml" Type="http://schemas.openxmlformats.org/officeDocument/2006/relationships/slide"/><Relationship Id="rId28" Target="slides/slide23.xml" Type="http://schemas.openxmlformats.org/officeDocument/2006/relationships/slide"/><Relationship Id="rId29" Target="slides/slide24.xml" Type="http://schemas.openxmlformats.org/officeDocument/2006/relationships/slide"/><Relationship Id="rId3" Target="viewProps.xml" Type="http://schemas.openxmlformats.org/officeDocument/2006/relationships/viewProps"/><Relationship Id="rId30" Target="slides/slide25.xml" Type="http://schemas.openxmlformats.org/officeDocument/2006/relationships/slide"/><Relationship Id="rId31" Target="slides/slide26.xml" Type="http://schemas.openxmlformats.org/officeDocument/2006/relationships/slide"/><Relationship Id="rId32" Target="slides/slide27.xml" Type="http://schemas.openxmlformats.org/officeDocument/2006/relationships/slide"/><Relationship Id="rId33" Target="slides/slide28.xml" Type="http://schemas.openxmlformats.org/officeDocument/2006/relationships/slide"/><Relationship Id="rId34" Target="slides/slide29.xml" Type="http://schemas.openxmlformats.org/officeDocument/2006/relationships/slide"/><Relationship Id="rId35" Target="slides/slide30.xml" Type="http://schemas.openxmlformats.org/officeDocument/2006/relationships/slide"/><Relationship Id="rId36" Target="slides/slide31.xml" Type="http://schemas.openxmlformats.org/officeDocument/2006/relationships/slide"/><Relationship Id="rId37" Target="slides/slide32.xml" Type="http://schemas.openxmlformats.org/officeDocument/2006/relationships/slide"/><Relationship Id="rId38" Target="slides/slide33.xml" Type="http://schemas.openxmlformats.org/officeDocument/2006/relationships/slide"/><Relationship Id="rId39" Target="slides/slide34.xml" Type="http://schemas.openxmlformats.org/officeDocument/2006/relationships/slide"/><Relationship Id="rId4" Target="theme/theme1.xml" Type="http://schemas.openxmlformats.org/officeDocument/2006/relationships/theme"/><Relationship Id="rId40" Target="slides/slide35.xml" Type="http://schemas.openxmlformats.org/officeDocument/2006/relationships/slide"/><Relationship Id="rId41" Target="slides/slide36.xml" Type="http://schemas.openxmlformats.org/officeDocument/2006/relationships/slide"/><Relationship Id="rId42" Target="slides/slide37.xml" Type="http://schemas.openxmlformats.org/officeDocument/2006/relationships/slide"/><Relationship Id="rId43" Target="slides/slide38.xml" Type="http://schemas.openxmlformats.org/officeDocument/2006/relationships/slide"/><Relationship Id="rId44" Target="fonts/font44.fntdata" Type="http://schemas.openxmlformats.org/officeDocument/2006/relationships/font"/><Relationship Id="rId45" Target="fonts/font45.fntdata" Type="http://schemas.openxmlformats.org/officeDocument/2006/relationships/font"/><Relationship Id="rId5" Target="tableStyles.xml" Type="http://schemas.openxmlformats.org/officeDocument/2006/relationships/tableStyles"/><Relationship Id="rId6" Target="slides/slide1.xml" Type="http://schemas.openxmlformats.org/officeDocument/2006/relationships/slide"/><Relationship Id="rId7" Target="slides/slide2.xml" Type="http://schemas.openxmlformats.org/officeDocument/2006/relationships/slide"/><Relationship Id="rId8" Target="slides/slide3.xml" Type="http://schemas.openxmlformats.org/officeDocument/2006/relationships/slide"/><Relationship Id="rId9" Target="slides/slide4.xml" Type="http://schemas.openxmlformats.org/officeDocument/2006/relationships/slide"/></Relationships>
</file>

<file path=ppt/slideLayouts/_rels/slideLayout1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2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3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4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5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6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7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8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9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10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11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<Relationships xmlns="http://schemas.openxmlformats.org/package/2006/relationships"><Relationship Id="rId1" Target="../slideLayouts/slideLayout1.xml" Type="http://schemas.openxmlformats.org/officeDocument/2006/relationships/slideLayout"/><Relationship Id="rId10" Target="../slideLayouts/slideLayout10.xml" Type="http://schemas.openxmlformats.org/officeDocument/2006/relationships/slideLayout"/><Relationship Id="rId11" Target="../slideLayouts/slideLayout11.xml" Type="http://schemas.openxmlformats.org/officeDocument/2006/relationships/slideLayout"/><Relationship Id="rId12" Target="../theme/theme1.xml" Type="http://schemas.openxmlformats.org/officeDocument/2006/relationships/theme"/><Relationship Id="rId2" Target="../slideLayouts/slideLayout2.xml" Type="http://schemas.openxmlformats.org/officeDocument/2006/relationships/slideLayout"/><Relationship Id="rId3" Target="../slideLayouts/slideLayout3.xml" Type="http://schemas.openxmlformats.org/officeDocument/2006/relationships/slideLayout"/><Relationship Id="rId4" Target="../slideLayouts/slideLayout4.xml" Type="http://schemas.openxmlformats.org/officeDocument/2006/relationships/slideLayout"/><Relationship Id="rId5" Target="../slideLayouts/slideLayout5.xml" Type="http://schemas.openxmlformats.org/officeDocument/2006/relationships/slideLayout"/><Relationship Id="rId6" Target="../slideLayouts/slideLayout6.xml" Type="http://schemas.openxmlformats.org/officeDocument/2006/relationships/slideLayout"/><Relationship Id="rId7" Target="../slideLayouts/slideLayout7.xml" Type="http://schemas.openxmlformats.org/officeDocument/2006/relationships/slideLayout"/><Relationship Id="rId8" Target="../slideLayouts/slideLayout8.xml" Type="http://schemas.openxmlformats.org/officeDocument/2006/relationships/slideLayout"/><Relationship Id="rId9" Target="../slideLayouts/slideLayout9.xml" Type="http://schemas.openxmlformats.org/officeDocument/2006/relationships/slideLayout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png" Type="http://schemas.openxmlformats.org/officeDocument/2006/relationships/image"/><Relationship Id="rId3" Target="../media/image2.png" Type="http://schemas.openxmlformats.org/officeDocument/2006/relationships/image"/></Relationships>
</file>

<file path=ppt/slides/_rels/slide2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3.png" Type="http://schemas.openxmlformats.org/officeDocument/2006/relationships/image"/></Relationships>
</file>

<file path=ppt/slides/_rels/slide3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3.png" Type="http://schemas.openxmlformats.org/officeDocument/2006/relationships/image"/><Relationship Id="rId3" Target="../media/image4.png" Type="http://schemas.openxmlformats.org/officeDocument/2006/relationships/image"/></Relationships>
</file>

<file path=ppt/slides/_rels/slide4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3.png" Type="http://schemas.openxmlformats.org/officeDocument/2006/relationships/image"/><Relationship Id="rId3" Target="../media/image5.png" Type="http://schemas.openxmlformats.org/officeDocument/2006/relationships/image"/><Relationship Id="rId4" Target="../media/image6.png" Type="http://schemas.openxmlformats.org/officeDocument/2006/relationships/image"/><Relationship Id="rId5" Target="../media/image7.png" Type="http://schemas.openxmlformats.org/officeDocument/2006/relationships/image"/></Relationships>
</file>

<file path=ppt/slides/_rels/slide5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3.png" Type="http://schemas.openxmlformats.org/officeDocument/2006/relationships/image"/><Relationship Id="rId3" Target="../media/image8.png" Type="http://schemas.openxmlformats.org/officeDocument/2006/relationships/image"/></Relationships>
</file>

<file path=ppt/slides/_rels/slide6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3.png" Type="http://schemas.openxmlformats.org/officeDocument/2006/relationships/image"/><Relationship Id="rId3" Target="../media/image9.png" Type="http://schemas.openxmlformats.org/officeDocument/2006/relationships/image"/><Relationship Id="rId4" Target="../media/image10.png" Type="http://schemas.openxmlformats.org/officeDocument/2006/relationships/image"/><Relationship Id="rId5" Target="../media/image11.png" Type="http://schemas.openxmlformats.org/officeDocument/2006/relationships/image"/></Relationships>
</file>

<file path=ppt/slides/_rels/slide7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3.png" Type="http://schemas.openxmlformats.org/officeDocument/2006/relationships/image"/><Relationship Id="rId3" Target="../media/image5.png" Type="http://schemas.openxmlformats.org/officeDocument/2006/relationships/image"/><Relationship Id="rId4" Target="../media/image6.png" Type="http://schemas.openxmlformats.org/officeDocument/2006/relationships/image"/><Relationship Id="rId5" Target="../media/image7.png" Type="http://schemas.openxmlformats.org/officeDocument/2006/relationships/image"/><Relationship Id="rId6" Target="../media/image10.png" Type="http://schemas.openxmlformats.org/officeDocument/2006/relationships/image"/><Relationship Id="rId7" Target="../media/image11.png" Type="http://schemas.openxmlformats.org/officeDocument/2006/relationships/image"/><Relationship Id="rId8" Target="../media/image9.png" Type="http://schemas.openxmlformats.org/officeDocument/2006/relationships/image"/></Relationships>
</file>

<file path=ppt/slides/_rels/slide8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3.png" Type="http://schemas.openxmlformats.org/officeDocument/2006/relationships/image"/></Relationships>
</file>

<file path=ppt/slides/_rels/slide9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3.png" Type="http://schemas.openxmlformats.org/officeDocument/2006/relationships/image"/><Relationship Id="rId3" Target="../media/image12.png" Type="http://schemas.openxmlformats.org/officeDocument/2006/relationships/image"/></Relationships>
</file>

<file path=ppt/slides/_rels/slide10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3.png" Type="http://schemas.openxmlformats.org/officeDocument/2006/relationships/image"/><Relationship Id="rId3" Target="../media/image13.png" Type="http://schemas.openxmlformats.org/officeDocument/2006/relationships/image"/></Relationships>
</file>

<file path=ppt/slides/_rels/slide11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3.png" Type="http://schemas.openxmlformats.org/officeDocument/2006/relationships/image"/><Relationship Id="rId3" Target="../media/image14.png" Type="http://schemas.openxmlformats.org/officeDocument/2006/relationships/image"/><Relationship Id="rId4" Target="../media/image15.png" Type="http://schemas.openxmlformats.org/officeDocument/2006/relationships/image"/></Relationships>
</file>

<file path=ppt/slides/_rels/slide12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3.png" Type="http://schemas.openxmlformats.org/officeDocument/2006/relationships/image"/><Relationship Id="rId3" Target="../media/image16.png" Type="http://schemas.openxmlformats.org/officeDocument/2006/relationships/image"/><Relationship Id="rId4" Target="../media/image17.png" Type="http://schemas.openxmlformats.org/officeDocument/2006/relationships/image"/></Relationships>
</file>

<file path=ppt/slides/_rels/slide13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3.png" Type="http://schemas.openxmlformats.org/officeDocument/2006/relationships/image"/><Relationship Id="rId3" Target="../media/image18.png" Type="http://schemas.openxmlformats.org/officeDocument/2006/relationships/image"/><Relationship Id="rId4" Target="../media/image19.png" Type="http://schemas.openxmlformats.org/officeDocument/2006/relationships/image"/></Relationships>
</file>

<file path=ppt/slides/_rels/slide14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3.png" Type="http://schemas.openxmlformats.org/officeDocument/2006/relationships/image"/></Relationships>
</file>

<file path=ppt/slides/_rels/slide15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3.png" Type="http://schemas.openxmlformats.org/officeDocument/2006/relationships/image"/><Relationship Id="rId3" Target="../media/image20.png" Type="http://schemas.openxmlformats.org/officeDocument/2006/relationships/image"/></Relationships>
</file>

<file path=ppt/slides/_rels/slide16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3.png" Type="http://schemas.openxmlformats.org/officeDocument/2006/relationships/image"/><Relationship Id="rId3" Target="../media/image21.png" Type="http://schemas.openxmlformats.org/officeDocument/2006/relationships/image"/></Relationships>
</file>

<file path=ppt/slides/_rels/slide17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3.png" Type="http://schemas.openxmlformats.org/officeDocument/2006/relationships/image"/><Relationship Id="rId3" Target="../media/image22.png" Type="http://schemas.openxmlformats.org/officeDocument/2006/relationships/image"/></Relationships>
</file>

<file path=ppt/slides/_rels/slide18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3.png" Type="http://schemas.openxmlformats.org/officeDocument/2006/relationships/image"/><Relationship Id="rId3" Target="../media/image23.png" Type="http://schemas.openxmlformats.org/officeDocument/2006/relationships/image"/></Relationships>
</file>

<file path=ppt/slides/_rels/slide19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3.png" Type="http://schemas.openxmlformats.org/officeDocument/2006/relationships/image"/><Relationship Id="rId3" Target="../media/image24.png" Type="http://schemas.openxmlformats.org/officeDocument/2006/relationships/image"/><Relationship Id="rId4" Target="../media/image25.png" Type="http://schemas.openxmlformats.org/officeDocument/2006/relationships/image"/></Relationships>
</file>

<file path=ppt/slides/_rels/slide20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3.png" Type="http://schemas.openxmlformats.org/officeDocument/2006/relationships/image"/></Relationships>
</file>

<file path=ppt/slides/_rels/slide21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3.png" Type="http://schemas.openxmlformats.org/officeDocument/2006/relationships/image"/><Relationship Id="rId3" Target="../media/image26.png" Type="http://schemas.openxmlformats.org/officeDocument/2006/relationships/image"/></Relationships>
</file>

<file path=ppt/slides/_rels/slide22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3.png" Type="http://schemas.openxmlformats.org/officeDocument/2006/relationships/image"/><Relationship Id="rId3" Target="../media/image27.png" Type="http://schemas.openxmlformats.org/officeDocument/2006/relationships/image"/></Relationships>
</file>

<file path=ppt/slides/_rels/slide23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3.png" Type="http://schemas.openxmlformats.org/officeDocument/2006/relationships/image"/><Relationship Id="rId3" Target="../media/image28.png" Type="http://schemas.openxmlformats.org/officeDocument/2006/relationships/image"/></Relationships>
</file>

<file path=ppt/slides/_rels/slide24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3.png" Type="http://schemas.openxmlformats.org/officeDocument/2006/relationships/image"/><Relationship Id="rId3" Target="../media/image29.png" Type="http://schemas.openxmlformats.org/officeDocument/2006/relationships/image"/></Relationships>
</file>

<file path=ppt/slides/_rels/slide25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3.png" Type="http://schemas.openxmlformats.org/officeDocument/2006/relationships/image"/><Relationship Id="rId3" Target="../media/image30.png" Type="http://schemas.openxmlformats.org/officeDocument/2006/relationships/image"/><Relationship Id="rId4" Target="../media/image31.png" Type="http://schemas.openxmlformats.org/officeDocument/2006/relationships/image"/><Relationship Id="rId5" Target="../media/image32.png" Type="http://schemas.openxmlformats.org/officeDocument/2006/relationships/image"/><Relationship Id="rId6" Target="../media/image33.png" Type="http://schemas.openxmlformats.org/officeDocument/2006/relationships/image"/></Relationships>
</file>

<file path=ppt/slides/_rels/slide26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3.png" Type="http://schemas.openxmlformats.org/officeDocument/2006/relationships/image"/></Relationships>
</file>

<file path=ppt/slides/_rels/slide27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3.png" Type="http://schemas.openxmlformats.org/officeDocument/2006/relationships/image"/><Relationship Id="rId3" Target="../media/image34.png" Type="http://schemas.openxmlformats.org/officeDocument/2006/relationships/image"/></Relationships>
</file>

<file path=ppt/slides/_rels/slide28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3.png" Type="http://schemas.openxmlformats.org/officeDocument/2006/relationships/image"/><Relationship Id="rId3" Target="../media/image35.png" Type="http://schemas.openxmlformats.org/officeDocument/2006/relationships/image"/></Relationships>
</file>

<file path=ppt/slides/_rels/slide29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3.png" Type="http://schemas.openxmlformats.org/officeDocument/2006/relationships/image"/><Relationship Id="rId3" Target="../media/image36.png" Type="http://schemas.openxmlformats.org/officeDocument/2006/relationships/image"/></Relationships>
</file>

<file path=ppt/slides/_rels/slide30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3.png" Type="http://schemas.openxmlformats.org/officeDocument/2006/relationships/image"/><Relationship Id="rId3" Target="../media/image37.png" Type="http://schemas.openxmlformats.org/officeDocument/2006/relationships/image"/></Relationships>
</file>

<file path=ppt/slides/_rels/slide31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3.png" Type="http://schemas.openxmlformats.org/officeDocument/2006/relationships/image"/><Relationship Id="rId3" Target="../media/image35.png" Type="http://schemas.openxmlformats.org/officeDocument/2006/relationships/image"/><Relationship Id="rId4" Target="../media/image37.png" Type="http://schemas.openxmlformats.org/officeDocument/2006/relationships/image"/></Relationships>
</file>

<file path=ppt/slides/_rels/slide32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3.png" Type="http://schemas.openxmlformats.org/officeDocument/2006/relationships/image"/></Relationships>
</file>

<file path=ppt/slides/_rels/slide33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3.png" Type="http://schemas.openxmlformats.org/officeDocument/2006/relationships/image"/><Relationship Id="rId3" Target="../media/image38.png" Type="http://schemas.openxmlformats.org/officeDocument/2006/relationships/image"/></Relationships>
</file>

<file path=ppt/slides/_rels/slide34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3.png" Type="http://schemas.openxmlformats.org/officeDocument/2006/relationships/image"/><Relationship Id="rId3" Target="../media/image39.png" Type="http://schemas.openxmlformats.org/officeDocument/2006/relationships/image"/></Relationships>
</file>

<file path=ppt/slides/_rels/slide35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3.png" Type="http://schemas.openxmlformats.org/officeDocument/2006/relationships/image"/><Relationship Id="rId3" Target="../media/image40.png" Type="http://schemas.openxmlformats.org/officeDocument/2006/relationships/image"/><Relationship Id="rId4" Target="../media/image41.png" Type="http://schemas.openxmlformats.org/officeDocument/2006/relationships/image"/></Relationships>
</file>

<file path=ppt/slides/_rels/slide36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3.png" Type="http://schemas.openxmlformats.org/officeDocument/2006/relationships/image"/><Relationship Id="rId3" Target="../media/image42.png" Type="http://schemas.openxmlformats.org/officeDocument/2006/relationships/image"/><Relationship Id="rId4" Target="../media/image43.png" Type="http://schemas.openxmlformats.org/officeDocument/2006/relationships/image"/></Relationships>
</file>

<file path=ppt/slides/_rels/slide37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3.png" Type="http://schemas.openxmlformats.org/officeDocument/2006/relationships/image"/><Relationship Id="rId3" Target="../media/image39.png" Type="http://schemas.openxmlformats.org/officeDocument/2006/relationships/image"/><Relationship Id="rId4" Target="../media/image44.png" Type="http://schemas.openxmlformats.org/officeDocument/2006/relationships/image"/></Relationships>
</file>

<file path=ppt/slides/_rels/slide38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png" Type="http://schemas.openxmlformats.org/officeDocument/2006/relationships/image"/><Relationship Id="rId3" Target="../media/image45.png" Type="http://schemas.openxmlformats.org/officeDocument/2006/relationships/image"/><Relationship Id="rId4" Target="https://hiroyoisan.github.io/wireless_earbuds/" TargetMode="External" Type="http://schemas.openxmlformats.org/officeDocument/2006/relationships/hyperlink"/></Relationships>
</file>

<file path=ppt/slides/slide1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-6818" t="0" r="-6818" b="0"/>
            </a:stretch>
          </a:blipFill>
        </p:spPr>
      </p:sp>
      <p:grpSp>
        <p:nvGrpSpPr>
          <p:cNvPr name="Group 3" id="3"/>
          <p:cNvGrpSpPr/>
          <p:nvPr/>
        </p:nvGrpSpPr>
        <p:grpSpPr>
          <a:xfrm rot="0">
            <a:off x="0" y="7715250"/>
            <a:ext cx="18288000" cy="3627882"/>
            <a:chOff x="0" y="0"/>
            <a:chExt cx="4816593" cy="955492"/>
          </a:xfrm>
        </p:grpSpPr>
        <p:sp>
          <p:nvSpPr>
            <p:cNvPr name="Freeform 4" id="4"/>
            <p:cNvSpPr/>
            <p:nvPr/>
          </p:nvSpPr>
          <p:spPr>
            <a:xfrm flipH="false" flipV="false" rot="0">
              <a:off x="0" y="0"/>
              <a:ext cx="4816592" cy="955492"/>
            </a:xfrm>
            <a:custGeom>
              <a:avLst/>
              <a:gdLst/>
              <a:ahLst/>
              <a:cxnLst/>
              <a:rect r="r" b="b" t="t" l="l"/>
              <a:pathLst>
                <a:path h="955492" w="4816592">
                  <a:moveTo>
                    <a:pt x="42333" y="0"/>
                  </a:moveTo>
                  <a:lnTo>
                    <a:pt x="4774259" y="0"/>
                  </a:lnTo>
                  <a:cubicBezTo>
                    <a:pt x="4785487" y="0"/>
                    <a:pt x="4796254" y="4460"/>
                    <a:pt x="4804193" y="12399"/>
                  </a:cubicBezTo>
                  <a:cubicBezTo>
                    <a:pt x="4812132" y="20338"/>
                    <a:pt x="4816592" y="31106"/>
                    <a:pt x="4816592" y="42333"/>
                  </a:cubicBezTo>
                  <a:lnTo>
                    <a:pt x="4816592" y="913158"/>
                  </a:lnTo>
                  <a:cubicBezTo>
                    <a:pt x="4816592" y="924386"/>
                    <a:pt x="4812132" y="935153"/>
                    <a:pt x="4804193" y="943092"/>
                  </a:cubicBezTo>
                  <a:cubicBezTo>
                    <a:pt x="4796254" y="951031"/>
                    <a:pt x="4785487" y="955492"/>
                    <a:pt x="4774259" y="955492"/>
                  </a:cubicBezTo>
                  <a:lnTo>
                    <a:pt x="42333" y="955492"/>
                  </a:lnTo>
                  <a:cubicBezTo>
                    <a:pt x="31106" y="955492"/>
                    <a:pt x="20338" y="951031"/>
                    <a:pt x="12399" y="943092"/>
                  </a:cubicBezTo>
                  <a:cubicBezTo>
                    <a:pt x="4460" y="935153"/>
                    <a:pt x="0" y="924386"/>
                    <a:pt x="0" y="913158"/>
                  </a:cubicBezTo>
                  <a:lnTo>
                    <a:pt x="0" y="42333"/>
                  </a:lnTo>
                  <a:cubicBezTo>
                    <a:pt x="0" y="31106"/>
                    <a:pt x="4460" y="20338"/>
                    <a:pt x="12399" y="12399"/>
                  </a:cubicBezTo>
                  <a:cubicBezTo>
                    <a:pt x="20338" y="4460"/>
                    <a:pt x="31106" y="0"/>
                    <a:pt x="42333" y="0"/>
                  </a:cubicBezTo>
                  <a:close/>
                </a:path>
              </a:pathLst>
            </a:custGeom>
            <a:solidFill>
              <a:srgbClr val="162F65"/>
            </a:solidFill>
          </p:spPr>
        </p:sp>
        <p:sp>
          <p:nvSpPr>
            <p:cNvPr name="TextBox 5" id="5"/>
            <p:cNvSpPr txBox="true"/>
            <p:nvPr/>
          </p:nvSpPr>
          <p:spPr>
            <a:xfrm>
              <a:off x="0" y="9525"/>
              <a:ext cx="4816593" cy="945967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008"/>
                </a:lnSpc>
              </a:pPr>
            </a:p>
          </p:txBody>
        </p:sp>
      </p:grpSp>
      <p:sp>
        <p:nvSpPr>
          <p:cNvPr name="Freeform 6" id="6"/>
          <p:cNvSpPr/>
          <p:nvPr/>
        </p:nvSpPr>
        <p:spPr>
          <a:xfrm flipH="false" flipV="false" rot="0">
            <a:off x="9655319" y="1028700"/>
            <a:ext cx="6624828" cy="8229600"/>
          </a:xfrm>
          <a:custGeom>
            <a:avLst/>
            <a:gdLst/>
            <a:ahLst/>
            <a:cxnLst/>
            <a:rect r="r" b="b" t="t" l="l"/>
            <a:pathLst>
              <a:path h="8229600" w="6624828">
                <a:moveTo>
                  <a:pt x="0" y="0"/>
                </a:moveTo>
                <a:lnTo>
                  <a:pt x="6624828" y="0"/>
                </a:lnTo>
                <a:lnTo>
                  <a:pt x="6624828" y="8229600"/>
                </a:lnTo>
                <a:lnTo>
                  <a:pt x="0" y="8229600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  <p:sp>
        <p:nvSpPr>
          <p:cNvPr name="TextBox 7" id="7"/>
          <p:cNvSpPr txBox="true"/>
          <p:nvPr/>
        </p:nvSpPr>
        <p:spPr>
          <a:xfrm rot="0">
            <a:off x="1028700" y="1894472"/>
            <a:ext cx="7299687" cy="324902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2401"/>
              </a:lnSpc>
            </a:pPr>
            <a:r>
              <a:rPr lang="en-US" sz="13054" spc="-482">
                <a:solidFill>
                  <a:srgbClr val="162F65"/>
                </a:solidFill>
                <a:latin typeface="League Spartan"/>
                <a:ea typeface="League Spartan"/>
                <a:cs typeface="League Spartan"/>
                <a:sym typeface="League Spartan"/>
              </a:rPr>
              <a:t>Wi</a:t>
            </a:r>
            <a:r>
              <a:rPr lang="en-US" sz="13054" spc="-482">
                <a:solidFill>
                  <a:srgbClr val="162F65"/>
                </a:solidFill>
                <a:latin typeface="League Spartan"/>
                <a:ea typeface="League Spartan"/>
                <a:cs typeface="League Spartan"/>
                <a:sym typeface="League Spartan"/>
              </a:rPr>
              <a:t>reless Earbuds</a:t>
            </a:r>
          </a:p>
        </p:txBody>
      </p:sp>
      <p:sp>
        <p:nvSpPr>
          <p:cNvPr name="TextBox 8" id="8"/>
          <p:cNvSpPr txBox="true"/>
          <p:nvPr/>
        </p:nvSpPr>
        <p:spPr>
          <a:xfrm rot="0">
            <a:off x="1028700" y="5162550"/>
            <a:ext cx="4373628" cy="72746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874"/>
              </a:lnSpc>
              <a:spcBef>
                <a:spcPct val="0"/>
              </a:spcBef>
            </a:pPr>
            <a:r>
              <a:rPr lang="en-US" b="true" sz="2544">
                <a:solidFill>
                  <a:srgbClr val="162F65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T</a:t>
            </a:r>
            <a:r>
              <a:rPr lang="en-US" b="true" sz="2544">
                <a:solidFill>
                  <a:srgbClr val="162F65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urning Innovation Into Everyday Value.</a:t>
            </a:r>
          </a:p>
        </p:txBody>
      </p:sp>
      <p:sp>
        <p:nvSpPr>
          <p:cNvPr name="TextBox 9" id="9"/>
          <p:cNvSpPr txBox="true"/>
          <p:nvPr/>
        </p:nvSpPr>
        <p:spPr>
          <a:xfrm rot="0">
            <a:off x="1028700" y="8609203"/>
            <a:ext cx="7596884" cy="64909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598"/>
              </a:lnSpc>
            </a:pPr>
            <a:r>
              <a:rPr lang="en-US" sz="2299" b="true">
                <a:solidFill>
                  <a:srgbClr val="F5FCFF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Mr.Hironobu Chaikasem 2610717302048</a:t>
            </a:r>
          </a:p>
          <a:p>
            <a:pPr algn="l">
              <a:lnSpc>
                <a:spcPts val="2598"/>
              </a:lnSpc>
              <a:spcBef>
                <a:spcPct val="0"/>
              </a:spcBef>
            </a:pPr>
            <a:r>
              <a:rPr lang="en-US" b="true" sz="2299">
                <a:solidFill>
                  <a:srgbClr val="F5FCFF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Computer Engineering and Artificial Intelligence</a:t>
            </a:r>
          </a:p>
        </p:txBody>
      </p:sp>
    </p:spTree>
  </p:cSld>
  <p:clrMapOvr>
    <a:masterClrMapping/>
  </p:clrMapOvr>
</p:sld>
</file>

<file path=ppt/slides/slide2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-6818" t="0" r="-6818" b="0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1028700" y="3455991"/>
            <a:ext cx="16230600" cy="312736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2625"/>
              </a:lnSpc>
            </a:pPr>
            <a:r>
              <a:rPr lang="en-US" sz="8416" spc="-311">
                <a:solidFill>
                  <a:srgbClr val="162F65"/>
                </a:solidFill>
                <a:latin typeface="League Spartan"/>
                <a:ea typeface="League Spartan"/>
                <a:cs typeface="League Spartan"/>
                <a:sym typeface="League Spartan"/>
              </a:rPr>
              <a:t>การสร้างรูปด้วย</a:t>
            </a:r>
            <a:r>
              <a:rPr lang="en-US" sz="8416" spc="-311">
                <a:solidFill>
                  <a:srgbClr val="162F65"/>
                </a:solidFill>
                <a:latin typeface="League Spartan"/>
                <a:ea typeface="League Spartan"/>
                <a:cs typeface="League Spartan"/>
                <a:sym typeface="League Spartan"/>
              </a:rPr>
              <a:t> AI </a:t>
            </a:r>
          </a:p>
          <a:p>
            <a:pPr algn="ctr">
              <a:lnSpc>
                <a:spcPts val="12625"/>
              </a:lnSpc>
            </a:pPr>
            <a:r>
              <a:rPr lang="en-US" sz="8416" spc="-311">
                <a:solidFill>
                  <a:srgbClr val="162F65"/>
                </a:solidFill>
                <a:latin typeface="League Spartan"/>
                <a:ea typeface="League Spartan"/>
                <a:cs typeface="League Spartan"/>
                <a:sym typeface="League Spartan"/>
              </a:rPr>
              <a:t>(AI Image Generation)</a:t>
            </a:r>
          </a:p>
        </p:txBody>
      </p:sp>
    </p:spTree>
  </p:cSld>
  <p:clrMapOvr>
    <a:masterClrMapping/>
  </p:clrMapOvr>
</p:sld>
</file>

<file path=ppt/slides/slide3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-6818" t="0" r="-6818" b="0"/>
            </a:stretch>
          </a:blipFill>
        </p:spPr>
      </p:sp>
      <p:sp>
        <p:nvSpPr>
          <p:cNvPr name="Freeform 3" id="3"/>
          <p:cNvSpPr/>
          <p:nvPr/>
        </p:nvSpPr>
        <p:spPr>
          <a:xfrm flipH="false" flipV="false" rot="0">
            <a:off x="4724686" y="2925140"/>
            <a:ext cx="9236899" cy="5949531"/>
          </a:xfrm>
          <a:custGeom>
            <a:avLst/>
            <a:gdLst/>
            <a:ahLst/>
            <a:cxnLst/>
            <a:rect r="r" b="b" t="t" l="l"/>
            <a:pathLst>
              <a:path h="5949531" w="9236899">
                <a:moveTo>
                  <a:pt x="0" y="0"/>
                </a:moveTo>
                <a:lnTo>
                  <a:pt x="9236899" y="0"/>
                </a:lnTo>
                <a:lnTo>
                  <a:pt x="9236899" y="5949531"/>
                </a:lnTo>
                <a:lnTo>
                  <a:pt x="0" y="5949531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  <p:sp>
        <p:nvSpPr>
          <p:cNvPr name="TextBox 4" id="4"/>
          <p:cNvSpPr txBox="true"/>
          <p:nvPr/>
        </p:nvSpPr>
        <p:spPr>
          <a:xfrm rot="0">
            <a:off x="3275774" y="1272479"/>
            <a:ext cx="12134722" cy="80699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5936"/>
              </a:lnSpc>
            </a:pPr>
            <a:r>
              <a:rPr lang="en-US" sz="6249" spc="-231">
                <a:solidFill>
                  <a:srgbClr val="162F65"/>
                </a:solidFill>
                <a:latin typeface="League Spartan"/>
                <a:ea typeface="League Spartan"/>
                <a:cs typeface="League Spartan"/>
                <a:sym typeface="League Spartan"/>
              </a:rPr>
              <a:t>Prompt แรก (Zero-shot Prompt)</a:t>
            </a:r>
          </a:p>
        </p:txBody>
      </p:sp>
    </p:spTree>
  </p:cSld>
  <p:clrMapOvr>
    <a:masterClrMapping/>
  </p:clrMapOvr>
</p:sld>
</file>

<file path=ppt/slides/slide4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-6818" t="0" r="-6818" b="0"/>
            </a:stretch>
          </a:blipFill>
        </p:spPr>
      </p:sp>
      <p:sp>
        <p:nvSpPr>
          <p:cNvPr name="Freeform 3" id="3"/>
          <p:cNvSpPr/>
          <p:nvPr/>
        </p:nvSpPr>
        <p:spPr>
          <a:xfrm flipH="false" flipV="false" rot="0">
            <a:off x="1028700" y="3180245"/>
            <a:ext cx="4715410" cy="4715410"/>
          </a:xfrm>
          <a:custGeom>
            <a:avLst/>
            <a:gdLst/>
            <a:ahLst/>
            <a:cxnLst/>
            <a:rect r="r" b="b" t="t" l="l"/>
            <a:pathLst>
              <a:path h="4715410" w="4715410">
                <a:moveTo>
                  <a:pt x="0" y="0"/>
                </a:moveTo>
                <a:lnTo>
                  <a:pt x="4715410" y="0"/>
                </a:lnTo>
                <a:lnTo>
                  <a:pt x="4715410" y="4715410"/>
                </a:lnTo>
                <a:lnTo>
                  <a:pt x="0" y="4715410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  <p:sp>
        <p:nvSpPr>
          <p:cNvPr name="Freeform 4" id="4"/>
          <p:cNvSpPr/>
          <p:nvPr/>
        </p:nvSpPr>
        <p:spPr>
          <a:xfrm flipH="false" flipV="false" rot="0">
            <a:off x="6815411" y="3180245"/>
            <a:ext cx="4715410" cy="4715410"/>
          </a:xfrm>
          <a:custGeom>
            <a:avLst/>
            <a:gdLst/>
            <a:ahLst/>
            <a:cxnLst/>
            <a:rect r="r" b="b" t="t" l="l"/>
            <a:pathLst>
              <a:path h="4715410" w="4715410">
                <a:moveTo>
                  <a:pt x="0" y="0"/>
                </a:moveTo>
                <a:lnTo>
                  <a:pt x="4715409" y="0"/>
                </a:lnTo>
                <a:lnTo>
                  <a:pt x="4715409" y="4715410"/>
                </a:lnTo>
                <a:lnTo>
                  <a:pt x="0" y="4715410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 l="0" t="0" r="0" b="0"/>
            </a:stretch>
          </a:blipFill>
        </p:spPr>
      </p:sp>
      <p:sp>
        <p:nvSpPr>
          <p:cNvPr name="Freeform 5" id="5"/>
          <p:cNvSpPr/>
          <p:nvPr/>
        </p:nvSpPr>
        <p:spPr>
          <a:xfrm flipH="false" flipV="false" rot="0">
            <a:off x="12602122" y="3180245"/>
            <a:ext cx="4657178" cy="4657178"/>
          </a:xfrm>
          <a:custGeom>
            <a:avLst/>
            <a:gdLst/>
            <a:ahLst/>
            <a:cxnLst/>
            <a:rect r="r" b="b" t="t" l="l"/>
            <a:pathLst>
              <a:path h="4657178" w="4657178">
                <a:moveTo>
                  <a:pt x="0" y="0"/>
                </a:moveTo>
                <a:lnTo>
                  <a:pt x="4657178" y="0"/>
                </a:lnTo>
                <a:lnTo>
                  <a:pt x="4657178" y="4657178"/>
                </a:lnTo>
                <a:lnTo>
                  <a:pt x="0" y="4657178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>
              <a:fillRect l="0" t="0" r="0" b="0"/>
            </a:stretch>
          </a:blipFill>
        </p:spPr>
      </p:sp>
      <p:sp>
        <p:nvSpPr>
          <p:cNvPr name="TextBox 6" id="6"/>
          <p:cNvSpPr txBox="true"/>
          <p:nvPr/>
        </p:nvSpPr>
        <p:spPr>
          <a:xfrm rot="0">
            <a:off x="1501734" y="1171575"/>
            <a:ext cx="15284532" cy="80699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5936"/>
              </a:lnSpc>
            </a:pPr>
            <a:r>
              <a:rPr lang="en-US" sz="6249" spc="-231">
                <a:solidFill>
                  <a:srgbClr val="162F65"/>
                </a:solidFill>
                <a:latin typeface="League Spartan"/>
                <a:ea typeface="League Spartan"/>
                <a:cs typeface="League Spartan"/>
                <a:sym typeface="League Spartan"/>
              </a:rPr>
              <a:t>ผลลัพธ์ของ </a:t>
            </a:r>
            <a:r>
              <a:rPr lang="en-US" sz="6249" spc="-231">
                <a:solidFill>
                  <a:srgbClr val="162F65"/>
                </a:solidFill>
                <a:latin typeface="League Spartan"/>
                <a:ea typeface="League Spartan"/>
                <a:cs typeface="League Spartan"/>
                <a:sym typeface="League Spartan"/>
              </a:rPr>
              <a:t>Prompt แรก (Zero-shot Result)</a:t>
            </a:r>
          </a:p>
        </p:txBody>
      </p:sp>
    </p:spTree>
  </p:cSld>
  <p:clrMapOvr>
    <a:masterClrMapping/>
  </p:clrMapOvr>
</p:sld>
</file>

<file path=ppt/slides/slide5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-6818" t="0" r="-6818" b="0"/>
            </a:stretch>
          </a:blipFill>
        </p:spPr>
      </p:sp>
      <p:sp>
        <p:nvSpPr>
          <p:cNvPr name="Freeform 3" id="3"/>
          <p:cNvSpPr/>
          <p:nvPr/>
        </p:nvSpPr>
        <p:spPr>
          <a:xfrm flipH="false" flipV="false" rot="0">
            <a:off x="5437431" y="3168607"/>
            <a:ext cx="7413137" cy="6089693"/>
          </a:xfrm>
          <a:custGeom>
            <a:avLst/>
            <a:gdLst/>
            <a:ahLst/>
            <a:cxnLst/>
            <a:rect r="r" b="b" t="t" l="l"/>
            <a:pathLst>
              <a:path h="6089693" w="7413137">
                <a:moveTo>
                  <a:pt x="0" y="0"/>
                </a:moveTo>
                <a:lnTo>
                  <a:pt x="7413138" y="0"/>
                </a:lnTo>
                <a:lnTo>
                  <a:pt x="7413138" y="6089693"/>
                </a:lnTo>
                <a:lnTo>
                  <a:pt x="0" y="6089693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  <p:sp>
        <p:nvSpPr>
          <p:cNvPr name="TextBox 4" id="4"/>
          <p:cNvSpPr txBox="true"/>
          <p:nvPr/>
        </p:nvSpPr>
        <p:spPr>
          <a:xfrm rot="0">
            <a:off x="3396250" y="847725"/>
            <a:ext cx="11495500" cy="23050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9374"/>
              </a:lnSpc>
            </a:pPr>
            <a:r>
              <a:rPr lang="en-US" sz="6249" spc="-231">
                <a:solidFill>
                  <a:srgbClr val="162F65"/>
                </a:solidFill>
                <a:latin typeface="League Spartan"/>
                <a:ea typeface="League Spartan"/>
                <a:cs typeface="League Spartan"/>
                <a:sym typeface="League Spartan"/>
              </a:rPr>
              <a:t>การถาม-ตอบ / ปรับแต่ง </a:t>
            </a:r>
            <a:r>
              <a:rPr lang="en-US" sz="6249" spc="-231">
                <a:solidFill>
                  <a:srgbClr val="162F65"/>
                </a:solidFill>
                <a:latin typeface="League Spartan"/>
                <a:ea typeface="League Spartan"/>
                <a:cs typeface="League Spartan"/>
                <a:sym typeface="League Spartan"/>
              </a:rPr>
              <a:t>Prompt </a:t>
            </a:r>
          </a:p>
          <a:p>
            <a:pPr algn="ctr">
              <a:lnSpc>
                <a:spcPts val="9374"/>
              </a:lnSpc>
            </a:pPr>
            <a:r>
              <a:rPr lang="en-US" sz="6249" spc="-231">
                <a:solidFill>
                  <a:srgbClr val="162F65"/>
                </a:solidFill>
                <a:latin typeface="League Spartan"/>
                <a:ea typeface="League Spartan"/>
                <a:cs typeface="League Spartan"/>
                <a:sym typeface="League Spartan"/>
              </a:rPr>
              <a:t>(Few-shot &amp; Context Prompt)</a:t>
            </a:r>
          </a:p>
        </p:txBody>
      </p:sp>
    </p:spTree>
  </p:cSld>
  <p:clrMapOvr>
    <a:masterClrMapping/>
  </p:clrMapOvr>
</p:sld>
</file>

<file path=ppt/slides/slide6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-6818" t="0" r="-6818" b="0"/>
            </a:stretch>
          </a:blipFill>
        </p:spPr>
      </p:sp>
      <p:sp>
        <p:nvSpPr>
          <p:cNvPr name="Freeform 3" id="3"/>
          <p:cNvSpPr/>
          <p:nvPr/>
        </p:nvSpPr>
        <p:spPr>
          <a:xfrm flipH="false" flipV="false" rot="0">
            <a:off x="1155507" y="3307715"/>
            <a:ext cx="4617077" cy="4617077"/>
          </a:xfrm>
          <a:custGeom>
            <a:avLst/>
            <a:gdLst/>
            <a:ahLst/>
            <a:cxnLst/>
            <a:rect r="r" b="b" t="t" l="l"/>
            <a:pathLst>
              <a:path h="4617077" w="4617077">
                <a:moveTo>
                  <a:pt x="0" y="0"/>
                </a:moveTo>
                <a:lnTo>
                  <a:pt x="4617076" y="0"/>
                </a:lnTo>
                <a:lnTo>
                  <a:pt x="4617076" y="4617077"/>
                </a:lnTo>
                <a:lnTo>
                  <a:pt x="0" y="4617077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  <p:sp>
        <p:nvSpPr>
          <p:cNvPr name="Freeform 4" id="4"/>
          <p:cNvSpPr/>
          <p:nvPr/>
        </p:nvSpPr>
        <p:spPr>
          <a:xfrm flipH="false" flipV="false" rot="0">
            <a:off x="6842134" y="3307715"/>
            <a:ext cx="4647333" cy="4647333"/>
          </a:xfrm>
          <a:custGeom>
            <a:avLst/>
            <a:gdLst/>
            <a:ahLst/>
            <a:cxnLst/>
            <a:rect r="r" b="b" t="t" l="l"/>
            <a:pathLst>
              <a:path h="4647333" w="4647333">
                <a:moveTo>
                  <a:pt x="0" y="0"/>
                </a:moveTo>
                <a:lnTo>
                  <a:pt x="4647334" y="0"/>
                </a:lnTo>
                <a:lnTo>
                  <a:pt x="4647334" y="4647333"/>
                </a:lnTo>
                <a:lnTo>
                  <a:pt x="0" y="4647333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 l="0" t="0" r="0" b="0"/>
            </a:stretch>
          </a:blipFill>
        </p:spPr>
      </p:sp>
      <p:sp>
        <p:nvSpPr>
          <p:cNvPr name="Freeform 5" id="5"/>
          <p:cNvSpPr/>
          <p:nvPr/>
        </p:nvSpPr>
        <p:spPr>
          <a:xfrm flipH="false" flipV="false" rot="0">
            <a:off x="12559019" y="3307715"/>
            <a:ext cx="4700281" cy="4700281"/>
          </a:xfrm>
          <a:custGeom>
            <a:avLst/>
            <a:gdLst/>
            <a:ahLst/>
            <a:cxnLst/>
            <a:rect r="r" b="b" t="t" l="l"/>
            <a:pathLst>
              <a:path h="4700281" w="4700281">
                <a:moveTo>
                  <a:pt x="0" y="0"/>
                </a:moveTo>
                <a:lnTo>
                  <a:pt x="4700281" y="0"/>
                </a:lnTo>
                <a:lnTo>
                  <a:pt x="4700281" y="4700282"/>
                </a:lnTo>
                <a:lnTo>
                  <a:pt x="0" y="4700282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>
              <a:fillRect l="0" t="0" r="0" b="0"/>
            </a:stretch>
          </a:blipFill>
        </p:spPr>
      </p:sp>
      <p:sp>
        <p:nvSpPr>
          <p:cNvPr name="TextBox 6" id="6"/>
          <p:cNvSpPr txBox="true"/>
          <p:nvPr/>
        </p:nvSpPr>
        <p:spPr>
          <a:xfrm rot="0">
            <a:off x="1028700" y="1171575"/>
            <a:ext cx="16230600" cy="80801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6"/>
              </a:lnSpc>
            </a:pPr>
            <a:r>
              <a:rPr lang="en-US" sz="6249" spc="-231">
                <a:solidFill>
                  <a:srgbClr val="162F65"/>
                </a:solidFill>
                <a:latin typeface="League Spartan"/>
                <a:ea typeface="League Spartan"/>
                <a:cs typeface="League Spartan"/>
                <a:sym typeface="League Spartan"/>
              </a:rPr>
              <a:t>ผลลัพธ์ ของ P</a:t>
            </a:r>
            <a:r>
              <a:rPr lang="en-US" sz="6249" spc="-231">
                <a:solidFill>
                  <a:srgbClr val="162F65"/>
                </a:solidFill>
                <a:latin typeface="League Spartan"/>
                <a:ea typeface="League Spartan"/>
                <a:cs typeface="League Spartan"/>
                <a:sym typeface="League Spartan"/>
              </a:rPr>
              <a:t>rompt ใหม่</a:t>
            </a:r>
          </a:p>
        </p:txBody>
      </p:sp>
    </p:spTree>
  </p:cSld>
  <p:clrMapOvr>
    <a:masterClrMapping/>
  </p:clrMapOvr>
</p:sld>
</file>

<file path=ppt/slides/slide7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-6818" t="0" r="-6818" b="0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1028700" y="8436561"/>
            <a:ext cx="8126368" cy="38595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050"/>
              </a:lnSpc>
              <a:spcBef>
                <a:spcPct val="0"/>
              </a:spcBef>
            </a:pPr>
            <a:r>
              <a:rPr lang="en-US" b="true" sz="2699">
                <a:solidFill>
                  <a:srgbClr val="162F65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Z</a:t>
            </a:r>
            <a:r>
              <a:rPr lang="en-US" b="true" sz="2699">
                <a:solidFill>
                  <a:srgbClr val="162F65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ero-sh</a:t>
            </a:r>
            <a:r>
              <a:rPr lang="en-US" b="true" sz="2699">
                <a:solidFill>
                  <a:srgbClr val="162F65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ot ให้ภาพตรงตามคำศัพท์ แต่ไม่อบอุ่น/ดึงดูดไม่พอ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028700" y="1171575"/>
            <a:ext cx="16230600" cy="156049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6"/>
              </a:lnSpc>
            </a:pPr>
            <a:r>
              <a:rPr lang="en-US" sz="6249" spc="-231">
                <a:solidFill>
                  <a:srgbClr val="162F65"/>
                </a:solidFill>
                <a:latin typeface="League Spartan"/>
                <a:ea typeface="League Spartan"/>
                <a:cs typeface="League Spartan"/>
                <a:sym typeface="League Spartan"/>
              </a:rPr>
              <a:t>สะท้อนการเรียนรู้ของการได้มาของ </a:t>
            </a:r>
          </a:p>
          <a:p>
            <a:pPr algn="ctr">
              <a:lnSpc>
                <a:spcPts val="5936"/>
              </a:lnSpc>
            </a:pPr>
            <a:r>
              <a:rPr lang="en-US" sz="6249" spc="-231">
                <a:solidFill>
                  <a:srgbClr val="162F65"/>
                </a:solidFill>
                <a:latin typeface="League Spartan"/>
                <a:ea typeface="League Spartan"/>
                <a:cs typeface="League Spartan"/>
                <a:sym typeface="League Spartan"/>
              </a:rPr>
              <a:t>ผลลัพธ์แรก กับ</a:t>
            </a:r>
            <a:r>
              <a:rPr lang="en-US" sz="6249" spc="-231">
                <a:solidFill>
                  <a:srgbClr val="162F65"/>
                </a:solidFill>
                <a:latin typeface="League Spartan"/>
                <a:ea typeface="League Spartan"/>
                <a:cs typeface="League Spartan"/>
                <a:sym typeface="League Spartan"/>
              </a:rPr>
              <a:t> ผลลัพธ์ใหม่ 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028700" y="3134861"/>
            <a:ext cx="2393244" cy="2393244"/>
          </a:xfrm>
          <a:custGeom>
            <a:avLst/>
            <a:gdLst/>
            <a:ahLst/>
            <a:cxnLst/>
            <a:rect r="r" b="b" t="t" l="l"/>
            <a:pathLst>
              <a:path h="2393244" w="2393244">
                <a:moveTo>
                  <a:pt x="0" y="0"/>
                </a:moveTo>
                <a:lnTo>
                  <a:pt x="2393244" y="0"/>
                </a:lnTo>
                <a:lnTo>
                  <a:pt x="2393244" y="2393244"/>
                </a:lnTo>
                <a:lnTo>
                  <a:pt x="0" y="239324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  <p:sp>
        <p:nvSpPr>
          <p:cNvPr name="Freeform 6" id="6"/>
          <p:cNvSpPr/>
          <p:nvPr/>
        </p:nvSpPr>
        <p:spPr>
          <a:xfrm flipH="false" flipV="false" rot="0">
            <a:off x="4304144" y="3134861"/>
            <a:ext cx="2393244" cy="2393244"/>
          </a:xfrm>
          <a:custGeom>
            <a:avLst/>
            <a:gdLst/>
            <a:ahLst/>
            <a:cxnLst/>
            <a:rect r="r" b="b" t="t" l="l"/>
            <a:pathLst>
              <a:path h="2393244" w="2393244">
                <a:moveTo>
                  <a:pt x="0" y="0"/>
                </a:moveTo>
                <a:lnTo>
                  <a:pt x="2393244" y="0"/>
                </a:lnTo>
                <a:lnTo>
                  <a:pt x="2393244" y="2393244"/>
                </a:lnTo>
                <a:lnTo>
                  <a:pt x="0" y="2393244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 l="0" t="0" r="0" b="0"/>
            </a:stretch>
          </a:blipFill>
        </p:spPr>
      </p:sp>
      <p:sp>
        <p:nvSpPr>
          <p:cNvPr name="Freeform 7" id="7"/>
          <p:cNvSpPr/>
          <p:nvPr/>
        </p:nvSpPr>
        <p:spPr>
          <a:xfrm flipH="false" flipV="false" rot="0">
            <a:off x="2673165" y="5391952"/>
            <a:ext cx="2490856" cy="2490856"/>
          </a:xfrm>
          <a:custGeom>
            <a:avLst/>
            <a:gdLst/>
            <a:ahLst/>
            <a:cxnLst/>
            <a:rect r="r" b="b" t="t" l="l"/>
            <a:pathLst>
              <a:path h="2490856" w="2490856">
                <a:moveTo>
                  <a:pt x="0" y="0"/>
                </a:moveTo>
                <a:lnTo>
                  <a:pt x="2490856" y="0"/>
                </a:lnTo>
                <a:lnTo>
                  <a:pt x="2490856" y="2490856"/>
                </a:lnTo>
                <a:lnTo>
                  <a:pt x="0" y="2490856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>
              <a:fillRect l="0" t="0" r="0" b="0"/>
            </a:stretch>
          </a:blipFill>
        </p:spPr>
      </p:sp>
      <p:sp>
        <p:nvSpPr>
          <p:cNvPr name="TextBox 8" id="8"/>
          <p:cNvSpPr txBox="true"/>
          <p:nvPr/>
        </p:nvSpPr>
        <p:spPr>
          <a:xfrm rot="0">
            <a:off x="9662416" y="8055561"/>
            <a:ext cx="7596884" cy="114795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051"/>
              </a:lnSpc>
              <a:spcBef>
                <a:spcPct val="0"/>
              </a:spcBef>
            </a:pPr>
            <a:r>
              <a:rPr lang="en-US" b="true" sz="2700">
                <a:solidFill>
                  <a:srgbClr val="162F65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ให้ภาพหูฟังสีดำด้าน ลอยเหนือกล่องเคส มีแสงนีอ</a:t>
            </a:r>
            <a:r>
              <a:rPr lang="en-US" b="true" sz="2700">
                <a:solidFill>
                  <a:srgbClr val="162F65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อนสีฟ้า-ม</a:t>
            </a:r>
            <a:r>
              <a:rPr lang="en-US" b="true" sz="2700">
                <a:solidFill>
                  <a:srgbClr val="162F65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่วง มีมิติความชัดลึก (Bokeh) ดูเหมือนภาพโฆษณาระดับมืออาชีพ</a:t>
            </a:r>
          </a:p>
        </p:txBody>
      </p:sp>
      <p:sp>
        <p:nvSpPr>
          <p:cNvPr name="Freeform 9" id="9"/>
          <p:cNvSpPr/>
          <p:nvPr/>
        </p:nvSpPr>
        <p:spPr>
          <a:xfrm flipH="false" flipV="false" rot="0">
            <a:off x="10613589" y="3227579"/>
            <a:ext cx="2645393" cy="2645393"/>
          </a:xfrm>
          <a:custGeom>
            <a:avLst/>
            <a:gdLst/>
            <a:ahLst/>
            <a:cxnLst/>
            <a:rect r="r" b="b" t="t" l="l"/>
            <a:pathLst>
              <a:path h="2645393" w="2645393">
                <a:moveTo>
                  <a:pt x="0" y="0"/>
                </a:moveTo>
                <a:lnTo>
                  <a:pt x="2645393" y="0"/>
                </a:lnTo>
                <a:lnTo>
                  <a:pt x="2645393" y="2645393"/>
                </a:lnTo>
                <a:lnTo>
                  <a:pt x="0" y="2645393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>
              <a:fillRect l="0" t="0" r="0" b="0"/>
            </a:stretch>
          </a:blipFill>
        </p:spPr>
      </p:sp>
      <p:sp>
        <p:nvSpPr>
          <p:cNvPr name="Freeform 10" id="10"/>
          <p:cNvSpPr/>
          <p:nvPr/>
        </p:nvSpPr>
        <p:spPr>
          <a:xfrm flipH="false" flipV="false" rot="0">
            <a:off x="14013466" y="3227579"/>
            <a:ext cx="2534812" cy="2534812"/>
          </a:xfrm>
          <a:custGeom>
            <a:avLst/>
            <a:gdLst/>
            <a:ahLst/>
            <a:cxnLst/>
            <a:rect r="r" b="b" t="t" l="l"/>
            <a:pathLst>
              <a:path h="2534812" w="2534812">
                <a:moveTo>
                  <a:pt x="0" y="0"/>
                </a:moveTo>
                <a:lnTo>
                  <a:pt x="2534813" y="0"/>
                </a:lnTo>
                <a:lnTo>
                  <a:pt x="2534813" y="2534812"/>
                </a:lnTo>
                <a:lnTo>
                  <a:pt x="0" y="2534812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>
              <a:fillRect l="0" t="0" r="0" b="0"/>
            </a:stretch>
          </a:blipFill>
        </p:spPr>
      </p:sp>
      <p:sp>
        <p:nvSpPr>
          <p:cNvPr name="Freeform 11" id="11"/>
          <p:cNvSpPr/>
          <p:nvPr/>
        </p:nvSpPr>
        <p:spPr>
          <a:xfrm flipH="false" flipV="false" rot="0">
            <a:off x="12424228" y="5528105"/>
            <a:ext cx="2354703" cy="2354703"/>
          </a:xfrm>
          <a:custGeom>
            <a:avLst/>
            <a:gdLst/>
            <a:ahLst/>
            <a:cxnLst/>
            <a:rect r="r" b="b" t="t" l="l"/>
            <a:pathLst>
              <a:path h="2354703" w="2354703">
                <a:moveTo>
                  <a:pt x="0" y="0"/>
                </a:moveTo>
                <a:lnTo>
                  <a:pt x="2354703" y="0"/>
                </a:lnTo>
                <a:lnTo>
                  <a:pt x="2354703" y="2354703"/>
                </a:lnTo>
                <a:lnTo>
                  <a:pt x="0" y="2354703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8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-6818" t="0" r="-6818" b="0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1028700" y="3455991"/>
            <a:ext cx="16230600" cy="312736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2625"/>
              </a:lnSpc>
            </a:pPr>
            <a:r>
              <a:rPr lang="en-US" sz="8416" spc="-311">
                <a:solidFill>
                  <a:srgbClr val="162F65"/>
                </a:solidFill>
                <a:latin typeface="League Spartan"/>
                <a:ea typeface="League Spartan"/>
                <a:cs typeface="League Spartan"/>
                <a:sym typeface="League Spartan"/>
              </a:rPr>
              <a:t>การอธิบายความสัมพันธ์ทางคณิตศาสตร์</a:t>
            </a:r>
            <a:r>
              <a:rPr lang="en-US" sz="8416" spc="-311">
                <a:solidFill>
                  <a:srgbClr val="162F65"/>
                </a:solidFill>
                <a:latin typeface="League Spartan"/>
                <a:ea typeface="League Spartan"/>
                <a:cs typeface="League Spartan"/>
                <a:sym typeface="League Spartan"/>
              </a:rPr>
              <a:t> (Desmos Calculator)</a:t>
            </a:r>
          </a:p>
        </p:txBody>
      </p:sp>
    </p:spTree>
  </p:cSld>
  <p:clrMapOvr>
    <a:masterClrMapping/>
  </p:clrMapOvr>
</p:sld>
</file>

<file path=ppt/slides/slide9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-6818" t="0" r="-6818" b="0"/>
            </a:stretch>
          </a:blipFill>
        </p:spPr>
      </p:sp>
      <p:sp>
        <p:nvSpPr>
          <p:cNvPr name="Freeform 3" id="3"/>
          <p:cNvSpPr/>
          <p:nvPr/>
        </p:nvSpPr>
        <p:spPr>
          <a:xfrm flipH="false" flipV="false" rot="0">
            <a:off x="5227918" y="2409131"/>
            <a:ext cx="8230434" cy="6849169"/>
          </a:xfrm>
          <a:custGeom>
            <a:avLst/>
            <a:gdLst/>
            <a:ahLst/>
            <a:cxnLst/>
            <a:rect r="r" b="b" t="t" l="l"/>
            <a:pathLst>
              <a:path h="6849169" w="8230434">
                <a:moveTo>
                  <a:pt x="0" y="0"/>
                </a:moveTo>
                <a:lnTo>
                  <a:pt x="8230435" y="0"/>
                </a:lnTo>
                <a:lnTo>
                  <a:pt x="8230435" y="6849169"/>
                </a:lnTo>
                <a:lnTo>
                  <a:pt x="0" y="6849169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  <p:sp>
        <p:nvSpPr>
          <p:cNvPr name="TextBox 4" id="4"/>
          <p:cNvSpPr txBox="true"/>
          <p:nvPr/>
        </p:nvSpPr>
        <p:spPr>
          <a:xfrm rot="0">
            <a:off x="3275774" y="1272479"/>
            <a:ext cx="12134722" cy="80699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5936"/>
              </a:lnSpc>
            </a:pPr>
            <a:r>
              <a:rPr lang="en-US" sz="6249" spc="-231">
                <a:solidFill>
                  <a:srgbClr val="162F65"/>
                </a:solidFill>
                <a:latin typeface="League Spartan"/>
                <a:ea typeface="League Spartan"/>
                <a:cs typeface="League Spartan"/>
                <a:sym typeface="League Spartan"/>
              </a:rPr>
              <a:t>Prompt แรก (Zero-shot Prompt)</a:t>
            </a:r>
          </a:p>
        </p:txBody>
      </p:sp>
    </p:spTree>
  </p:cSld>
  <p:clrMapOvr>
    <a:masterClrMapping/>
  </p:clrMapOvr>
</p:sld>
</file>

<file path=ppt/slides/slide10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-6818" t="0" r="-6818" b="0"/>
            </a:stretch>
          </a:blipFill>
        </p:spPr>
      </p:sp>
      <p:sp>
        <p:nvSpPr>
          <p:cNvPr name="Freeform 3" id="3"/>
          <p:cNvSpPr/>
          <p:nvPr/>
        </p:nvSpPr>
        <p:spPr>
          <a:xfrm flipH="false" flipV="false" rot="0">
            <a:off x="1224219" y="3128113"/>
            <a:ext cx="15839563" cy="5355752"/>
          </a:xfrm>
          <a:custGeom>
            <a:avLst/>
            <a:gdLst/>
            <a:ahLst/>
            <a:cxnLst/>
            <a:rect r="r" b="b" t="t" l="l"/>
            <a:pathLst>
              <a:path h="5355752" w="15839563">
                <a:moveTo>
                  <a:pt x="0" y="0"/>
                </a:moveTo>
                <a:lnTo>
                  <a:pt x="15839562" y="0"/>
                </a:lnTo>
                <a:lnTo>
                  <a:pt x="15839562" y="5355752"/>
                </a:lnTo>
                <a:lnTo>
                  <a:pt x="0" y="5355752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  <p:sp>
        <p:nvSpPr>
          <p:cNvPr name="TextBox 4" id="4"/>
          <p:cNvSpPr txBox="true"/>
          <p:nvPr/>
        </p:nvSpPr>
        <p:spPr>
          <a:xfrm rot="0">
            <a:off x="1501734" y="1171575"/>
            <a:ext cx="15284532" cy="80699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5936"/>
              </a:lnSpc>
            </a:pPr>
            <a:r>
              <a:rPr lang="en-US" sz="6249" spc="-231">
                <a:solidFill>
                  <a:srgbClr val="162F65"/>
                </a:solidFill>
                <a:latin typeface="League Spartan"/>
                <a:ea typeface="League Spartan"/>
                <a:cs typeface="League Spartan"/>
                <a:sym typeface="League Spartan"/>
              </a:rPr>
              <a:t>ผลลัพธ์ของ </a:t>
            </a:r>
            <a:r>
              <a:rPr lang="en-US" sz="6249" spc="-231">
                <a:solidFill>
                  <a:srgbClr val="162F65"/>
                </a:solidFill>
                <a:latin typeface="League Spartan"/>
                <a:ea typeface="League Spartan"/>
                <a:cs typeface="League Spartan"/>
                <a:sym typeface="League Spartan"/>
              </a:rPr>
              <a:t>Prompt แรก (Zero-shot Result)</a:t>
            </a:r>
          </a:p>
        </p:txBody>
      </p:sp>
    </p:spTree>
  </p:cSld>
  <p:clrMapOvr>
    <a:masterClrMapping/>
  </p:clrMapOvr>
</p:sld>
</file>

<file path=ppt/slides/slide11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-6818" t="0" r="-6818" b="0"/>
            </a:stretch>
          </a:blipFill>
        </p:spPr>
      </p:sp>
      <p:sp>
        <p:nvSpPr>
          <p:cNvPr name="Freeform 3" id="3"/>
          <p:cNvSpPr/>
          <p:nvPr/>
        </p:nvSpPr>
        <p:spPr>
          <a:xfrm flipH="false" flipV="false" rot="0">
            <a:off x="1028700" y="3621122"/>
            <a:ext cx="7316322" cy="6191405"/>
          </a:xfrm>
          <a:custGeom>
            <a:avLst/>
            <a:gdLst/>
            <a:ahLst/>
            <a:cxnLst/>
            <a:rect r="r" b="b" t="t" l="l"/>
            <a:pathLst>
              <a:path h="6191405" w="7316322">
                <a:moveTo>
                  <a:pt x="0" y="0"/>
                </a:moveTo>
                <a:lnTo>
                  <a:pt x="7316322" y="0"/>
                </a:lnTo>
                <a:lnTo>
                  <a:pt x="7316322" y="6191404"/>
                </a:lnTo>
                <a:lnTo>
                  <a:pt x="0" y="619140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  <p:sp>
        <p:nvSpPr>
          <p:cNvPr name="Freeform 4" id="4"/>
          <p:cNvSpPr/>
          <p:nvPr/>
        </p:nvSpPr>
        <p:spPr>
          <a:xfrm flipH="false" flipV="false" rot="0">
            <a:off x="9450372" y="3611602"/>
            <a:ext cx="7374902" cy="6210443"/>
          </a:xfrm>
          <a:custGeom>
            <a:avLst/>
            <a:gdLst/>
            <a:ahLst/>
            <a:cxnLst/>
            <a:rect r="r" b="b" t="t" l="l"/>
            <a:pathLst>
              <a:path h="6210443" w="7374902">
                <a:moveTo>
                  <a:pt x="0" y="0"/>
                </a:moveTo>
                <a:lnTo>
                  <a:pt x="7374901" y="0"/>
                </a:lnTo>
                <a:lnTo>
                  <a:pt x="7374901" y="6210444"/>
                </a:lnTo>
                <a:lnTo>
                  <a:pt x="0" y="6210444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 l="0" t="0" r="0" b="0"/>
            </a:stretch>
          </a:blipFill>
        </p:spPr>
      </p:sp>
      <p:sp>
        <p:nvSpPr>
          <p:cNvPr name="TextBox 5" id="5"/>
          <p:cNvSpPr txBox="true"/>
          <p:nvPr/>
        </p:nvSpPr>
        <p:spPr>
          <a:xfrm rot="0">
            <a:off x="3396250" y="847725"/>
            <a:ext cx="11495500" cy="23050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9374"/>
              </a:lnSpc>
            </a:pPr>
            <a:r>
              <a:rPr lang="en-US" sz="6249" spc="-231">
                <a:solidFill>
                  <a:srgbClr val="162F65"/>
                </a:solidFill>
                <a:latin typeface="League Spartan"/>
                <a:ea typeface="League Spartan"/>
                <a:cs typeface="League Spartan"/>
                <a:sym typeface="League Spartan"/>
              </a:rPr>
              <a:t>การถาม-ตอบ / ปรับแต่ง </a:t>
            </a:r>
            <a:r>
              <a:rPr lang="en-US" sz="6249" spc="-231">
                <a:solidFill>
                  <a:srgbClr val="162F65"/>
                </a:solidFill>
                <a:latin typeface="League Spartan"/>
                <a:ea typeface="League Spartan"/>
                <a:cs typeface="League Spartan"/>
                <a:sym typeface="League Spartan"/>
              </a:rPr>
              <a:t>Prompt </a:t>
            </a:r>
          </a:p>
          <a:p>
            <a:pPr algn="ctr">
              <a:lnSpc>
                <a:spcPts val="9374"/>
              </a:lnSpc>
            </a:pPr>
            <a:r>
              <a:rPr lang="en-US" sz="6249" spc="-231">
                <a:solidFill>
                  <a:srgbClr val="162F65"/>
                </a:solidFill>
                <a:latin typeface="League Spartan"/>
                <a:ea typeface="League Spartan"/>
                <a:cs typeface="League Spartan"/>
                <a:sym typeface="League Spartan"/>
              </a:rPr>
              <a:t>(Few-shot &amp; Context Prompt)</a:t>
            </a:r>
          </a:p>
        </p:txBody>
      </p:sp>
    </p:spTree>
  </p:cSld>
  <p:clrMapOvr>
    <a:masterClrMapping/>
  </p:clrMapOvr>
</p:sld>
</file>

<file path=ppt/slides/slide12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-6818" t="0" r="-6818" b="0"/>
            </a:stretch>
          </a:blipFill>
        </p:spPr>
      </p:sp>
      <p:sp>
        <p:nvSpPr>
          <p:cNvPr name="Freeform 3" id="3"/>
          <p:cNvSpPr/>
          <p:nvPr/>
        </p:nvSpPr>
        <p:spPr>
          <a:xfrm flipH="false" flipV="false" rot="0">
            <a:off x="680753" y="3186452"/>
            <a:ext cx="7817940" cy="5413876"/>
          </a:xfrm>
          <a:custGeom>
            <a:avLst/>
            <a:gdLst/>
            <a:ahLst/>
            <a:cxnLst/>
            <a:rect r="r" b="b" t="t" l="l"/>
            <a:pathLst>
              <a:path h="5413876" w="7817940">
                <a:moveTo>
                  <a:pt x="0" y="0"/>
                </a:moveTo>
                <a:lnTo>
                  <a:pt x="7817940" y="0"/>
                </a:lnTo>
                <a:lnTo>
                  <a:pt x="7817940" y="5413876"/>
                </a:lnTo>
                <a:lnTo>
                  <a:pt x="0" y="5413876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  <p:sp>
        <p:nvSpPr>
          <p:cNvPr name="Freeform 4" id="4"/>
          <p:cNvSpPr/>
          <p:nvPr/>
        </p:nvSpPr>
        <p:spPr>
          <a:xfrm flipH="false" flipV="false" rot="0">
            <a:off x="8632084" y="3132374"/>
            <a:ext cx="8627216" cy="5467954"/>
          </a:xfrm>
          <a:custGeom>
            <a:avLst/>
            <a:gdLst/>
            <a:ahLst/>
            <a:cxnLst/>
            <a:rect r="r" b="b" t="t" l="l"/>
            <a:pathLst>
              <a:path h="5467954" w="8627216">
                <a:moveTo>
                  <a:pt x="0" y="0"/>
                </a:moveTo>
                <a:lnTo>
                  <a:pt x="8627216" y="0"/>
                </a:lnTo>
                <a:lnTo>
                  <a:pt x="8627216" y="5467954"/>
                </a:lnTo>
                <a:lnTo>
                  <a:pt x="0" y="5467954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 l="0" t="0" r="0" b="0"/>
            </a:stretch>
          </a:blipFill>
        </p:spPr>
      </p:sp>
      <p:sp>
        <p:nvSpPr>
          <p:cNvPr name="TextBox 5" id="5"/>
          <p:cNvSpPr txBox="true"/>
          <p:nvPr/>
        </p:nvSpPr>
        <p:spPr>
          <a:xfrm rot="0">
            <a:off x="1028700" y="1171575"/>
            <a:ext cx="16230600" cy="80801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6"/>
              </a:lnSpc>
            </a:pPr>
            <a:r>
              <a:rPr lang="en-US" sz="6249" spc="-231">
                <a:solidFill>
                  <a:srgbClr val="162F65"/>
                </a:solidFill>
                <a:latin typeface="League Spartan"/>
                <a:ea typeface="League Spartan"/>
                <a:cs typeface="League Spartan"/>
                <a:sym typeface="League Spartan"/>
              </a:rPr>
              <a:t>ผลลัพธ์ ของ P</a:t>
            </a:r>
            <a:r>
              <a:rPr lang="en-US" sz="6249" spc="-231">
                <a:solidFill>
                  <a:srgbClr val="162F65"/>
                </a:solidFill>
                <a:latin typeface="League Spartan"/>
                <a:ea typeface="League Spartan"/>
                <a:cs typeface="League Spartan"/>
                <a:sym typeface="League Spartan"/>
              </a:rPr>
              <a:t>rompt ใหม่</a:t>
            </a:r>
          </a:p>
        </p:txBody>
      </p:sp>
    </p:spTree>
  </p:cSld>
  <p:clrMapOvr>
    <a:masterClrMapping/>
  </p:clrMapOvr>
</p:sld>
</file>

<file path=ppt/slides/slide13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-6818" t="0" r="-6818" b="0"/>
            </a:stretch>
          </a:blipFill>
        </p:spPr>
      </p:sp>
      <p:sp>
        <p:nvSpPr>
          <p:cNvPr name="Freeform 3" id="3"/>
          <p:cNvSpPr/>
          <p:nvPr/>
        </p:nvSpPr>
        <p:spPr>
          <a:xfrm flipH="false" flipV="false" rot="0">
            <a:off x="816906" y="3256424"/>
            <a:ext cx="7959959" cy="4279630"/>
          </a:xfrm>
          <a:custGeom>
            <a:avLst/>
            <a:gdLst/>
            <a:ahLst/>
            <a:cxnLst/>
            <a:rect r="r" b="b" t="t" l="l"/>
            <a:pathLst>
              <a:path h="4279630" w="7959959">
                <a:moveTo>
                  <a:pt x="0" y="0"/>
                </a:moveTo>
                <a:lnTo>
                  <a:pt x="7959959" y="0"/>
                </a:lnTo>
                <a:lnTo>
                  <a:pt x="7959959" y="4279631"/>
                </a:lnTo>
                <a:lnTo>
                  <a:pt x="0" y="4279631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  <p:sp>
        <p:nvSpPr>
          <p:cNvPr name="Freeform 4" id="4"/>
          <p:cNvSpPr/>
          <p:nvPr/>
        </p:nvSpPr>
        <p:spPr>
          <a:xfrm flipH="false" flipV="false" rot="0">
            <a:off x="8988659" y="3256424"/>
            <a:ext cx="8773654" cy="4279630"/>
          </a:xfrm>
          <a:custGeom>
            <a:avLst/>
            <a:gdLst/>
            <a:ahLst/>
            <a:cxnLst/>
            <a:rect r="r" b="b" t="t" l="l"/>
            <a:pathLst>
              <a:path h="4279630" w="8773654">
                <a:moveTo>
                  <a:pt x="0" y="0"/>
                </a:moveTo>
                <a:lnTo>
                  <a:pt x="8773654" y="0"/>
                </a:lnTo>
                <a:lnTo>
                  <a:pt x="8773654" y="4279631"/>
                </a:lnTo>
                <a:lnTo>
                  <a:pt x="0" y="4279631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 l="0" t="0" r="0" b="0"/>
            </a:stretch>
          </a:blipFill>
        </p:spPr>
      </p:sp>
      <p:sp>
        <p:nvSpPr>
          <p:cNvPr name="TextBox 5" id="5"/>
          <p:cNvSpPr txBox="true"/>
          <p:nvPr/>
        </p:nvSpPr>
        <p:spPr>
          <a:xfrm rot="0">
            <a:off x="816906" y="8078980"/>
            <a:ext cx="8171752" cy="152895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050"/>
              </a:lnSpc>
              <a:spcBef>
                <a:spcPct val="0"/>
              </a:spcBef>
            </a:pPr>
            <a:r>
              <a:rPr lang="en-US" b="true" sz="2699">
                <a:solidFill>
                  <a:srgbClr val="162F65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ให้</a:t>
            </a:r>
            <a:r>
              <a:rPr lang="en-US" b="true" sz="2699">
                <a:solidFill>
                  <a:srgbClr val="162F65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สมการ y = \sin(x) หรือ y = e^{-x} แบบโดดๆ ซึ่งไม่ได้แสดงการหักลบของคลื่นเสียง</a:t>
            </a:r>
          </a:p>
          <a:p>
            <a:pPr algn="ctr">
              <a:lnSpc>
                <a:spcPts val="3050"/>
              </a:lnSpc>
              <a:spcBef>
                <a:spcPct val="0"/>
              </a:spcBef>
            </a:pPr>
            <a:r>
              <a:rPr lang="en-US" b="true" sz="2699">
                <a:solidFill>
                  <a:srgbClr val="162F65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(Destructive Interference) หรือความถี่ของเสียงรบกวนอย่างชัดเจน </a:t>
            </a:r>
          </a:p>
        </p:txBody>
      </p:sp>
      <p:sp>
        <p:nvSpPr>
          <p:cNvPr name="TextBox 6" id="6"/>
          <p:cNvSpPr txBox="true"/>
          <p:nvPr/>
        </p:nvSpPr>
        <p:spPr>
          <a:xfrm rot="0">
            <a:off x="1028700" y="1171575"/>
            <a:ext cx="16230600" cy="156049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6"/>
              </a:lnSpc>
            </a:pPr>
            <a:r>
              <a:rPr lang="en-US" sz="6249" spc="-231">
                <a:solidFill>
                  <a:srgbClr val="162F65"/>
                </a:solidFill>
                <a:latin typeface="League Spartan"/>
                <a:ea typeface="League Spartan"/>
                <a:cs typeface="League Spartan"/>
                <a:sym typeface="League Spartan"/>
              </a:rPr>
              <a:t>สะท้อนการเรียนรู้ของการได้มาของ </a:t>
            </a:r>
          </a:p>
          <a:p>
            <a:pPr algn="ctr">
              <a:lnSpc>
                <a:spcPts val="5936"/>
              </a:lnSpc>
            </a:pPr>
            <a:r>
              <a:rPr lang="en-US" sz="6249" spc="-231">
                <a:solidFill>
                  <a:srgbClr val="162F65"/>
                </a:solidFill>
                <a:latin typeface="League Spartan"/>
                <a:ea typeface="League Spartan"/>
                <a:cs typeface="League Spartan"/>
                <a:sym typeface="League Spartan"/>
              </a:rPr>
              <a:t>ผลลัพธ์แรก กับ</a:t>
            </a:r>
            <a:r>
              <a:rPr lang="en-US" sz="6249" spc="-231">
                <a:solidFill>
                  <a:srgbClr val="162F65"/>
                </a:solidFill>
                <a:latin typeface="League Spartan"/>
                <a:ea typeface="League Spartan"/>
                <a:cs typeface="League Spartan"/>
                <a:sym typeface="League Spartan"/>
              </a:rPr>
              <a:t> ผลลัพธ์ใหม่ </a:t>
            </a:r>
          </a:p>
        </p:txBody>
      </p:sp>
      <p:sp>
        <p:nvSpPr>
          <p:cNvPr name="TextBox 7" id="7"/>
          <p:cNvSpPr txBox="true"/>
          <p:nvPr/>
        </p:nvSpPr>
        <p:spPr>
          <a:xfrm rot="0">
            <a:off x="9314469" y="8055561"/>
            <a:ext cx="8447844" cy="114795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051"/>
              </a:lnSpc>
              <a:spcBef>
                <a:spcPct val="0"/>
              </a:spcBef>
            </a:pPr>
            <a:r>
              <a:rPr lang="en-US" b="true" sz="2700">
                <a:solidFill>
                  <a:srgbClr val="162F65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ได้ชุดสมการพร้อม</a:t>
            </a:r>
            <a:r>
              <a:rPr lang="en-US" b="true" sz="2700">
                <a:solidFill>
                  <a:srgbClr val="162F65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แถบปรับค่า (Sli</a:t>
            </a:r>
            <a:r>
              <a:rPr lang="en-US" b="true" sz="2700">
                <a:solidFill>
                  <a:srgbClr val="162F65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der phi) เมื่อปรับ phi = 0 คลื่นผลลัพธ์ R(x) จะกลายเป็นเส้นตรง y=0 แสดงการหักลบกันสมบูรณ์แบบ </a:t>
            </a:r>
          </a:p>
        </p:txBody>
      </p:sp>
    </p:spTree>
  </p:cSld>
  <p:clrMapOvr>
    <a:masterClrMapping/>
  </p:clrMapOvr>
</p:sld>
</file>

<file path=ppt/slides/slide14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-6818" t="0" r="-6818" b="0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1028700" y="3455991"/>
            <a:ext cx="16230600" cy="312736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2625"/>
              </a:lnSpc>
            </a:pPr>
            <a:r>
              <a:rPr lang="en-US" sz="8416" spc="-311">
                <a:solidFill>
                  <a:srgbClr val="162F65"/>
                </a:solidFill>
                <a:latin typeface="League Spartan"/>
                <a:ea typeface="League Spartan"/>
                <a:cs typeface="League Spartan"/>
                <a:sym typeface="League Spartan"/>
              </a:rPr>
              <a:t>การสร้าง Diagrams จาก</a:t>
            </a:r>
            <a:r>
              <a:rPr lang="en-US" sz="8416" spc="-311">
                <a:solidFill>
                  <a:srgbClr val="162F65"/>
                </a:solidFill>
                <a:latin typeface="League Spartan"/>
                <a:ea typeface="League Spartan"/>
                <a:cs typeface="League Spartan"/>
                <a:sym typeface="League Spartan"/>
              </a:rPr>
              <a:t> Mermaid Code (Mermaid.ai)</a:t>
            </a:r>
          </a:p>
        </p:txBody>
      </p:sp>
    </p:spTree>
  </p:cSld>
  <p:clrMapOvr>
    <a:masterClrMapping/>
  </p:clrMapOvr>
</p:sld>
</file>

<file path=ppt/slides/slide15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-6818" t="0" r="-6818" b="0"/>
            </a:stretch>
          </a:blipFill>
        </p:spPr>
      </p:sp>
      <p:sp>
        <p:nvSpPr>
          <p:cNvPr name="Freeform 3" id="3"/>
          <p:cNvSpPr/>
          <p:nvPr/>
        </p:nvSpPr>
        <p:spPr>
          <a:xfrm flipH="false" flipV="false" rot="0">
            <a:off x="3500646" y="2780620"/>
            <a:ext cx="11684979" cy="6477680"/>
          </a:xfrm>
          <a:custGeom>
            <a:avLst/>
            <a:gdLst/>
            <a:ahLst/>
            <a:cxnLst/>
            <a:rect r="r" b="b" t="t" l="l"/>
            <a:pathLst>
              <a:path h="6477680" w="11684979">
                <a:moveTo>
                  <a:pt x="0" y="0"/>
                </a:moveTo>
                <a:lnTo>
                  <a:pt x="11684979" y="0"/>
                </a:lnTo>
                <a:lnTo>
                  <a:pt x="11684979" y="6477680"/>
                </a:lnTo>
                <a:lnTo>
                  <a:pt x="0" y="6477680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  <p:sp>
        <p:nvSpPr>
          <p:cNvPr name="TextBox 4" id="4"/>
          <p:cNvSpPr txBox="true"/>
          <p:nvPr/>
        </p:nvSpPr>
        <p:spPr>
          <a:xfrm rot="0">
            <a:off x="3275774" y="1272479"/>
            <a:ext cx="12134722" cy="80699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5936"/>
              </a:lnSpc>
            </a:pPr>
            <a:r>
              <a:rPr lang="en-US" sz="6249" spc="-231">
                <a:solidFill>
                  <a:srgbClr val="162F65"/>
                </a:solidFill>
                <a:latin typeface="League Spartan"/>
                <a:ea typeface="League Spartan"/>
                <a:cs typeface="League Spartan"/>
                <a:sym typeface="League Spartan"/>
              </a:rPr>
              <a:t>Prompt แรก (Zero-shot Prompt)</a:t>
            </a:r>
          </a:p>
        </p:txBody>
      </p:sp>
    </p:spTree>
  </p:cSld>
  <p:clrMapOvr>
    <a:masterClrMapping/>
  </p:clrMapOvr>
</p:sld>
</file>

<file path=ppt/slides/slide16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-6818" t="0" r="-6818" b="0"/>
            </a:stretch>
          </a:blipFill>
        </p:spPr>
      </p:sp>
      <p:sp>
        <p:nvSpPr>
          <p:cNvPr name="Freeform 3" id="3"/>
          <p:cNvSpPr/>
          <p:nvPr/>
        </p:nvSpPr>
        <p:spPr>
          <a:xfrm flipH="false" flipV="false" rot="0">
            <a:off x="3577463" y="2431741"/>
            <a:ext cx="11133074" cy="6826559"/>
          </a:xfrm>
          <a:custGeom>
            <a:avLst/>
            <a:gdLst/>
            <a:ahLst/>
            <a:cxnLst/>
            <a:rect r="r" b="b" t="t" l="l"/>
            <a:pathLst>
              <a:path h="6826559" w="11133074">
                <a:moveTo>
                  <a:pt x="0" y="0"/>
                </a:moveTo>
                <a:lnTo>
                  <a:pt x="11133074" y="0"/>
                </a:lnTo>
                <a:lnTo>
                  <a:pt x="11133074" y="6826559"/>
                </a:lnTo>
                <a:lnTo>
                  <a:pt x="0" y="6826559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  <p:sp>
        <p:nvSpPr>
          <p:cNvPr name="TextBox 4" id="4"/>
          <p:cNvSpPr txBox="true"/>
          <p:nvPr/>
        </p:nvSpPr>
        <p:spPr>
          <a:xfrm rot="0">
            <a:off x="1501734" y="1171575"/>
            <a:ext cx="15284532" cy="80699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5936"/>
              </a:lnSpc>
            </a:pPr>
            <a:r>
              <a:rPr lang="en-US" sz="6249" spc="-231">
                <a:solidFill>
                  <a:srgbClr val="162F65"/>
                </a:solidFill>
                <a:latin typeface="League Spartan"/>
                <a:ea typeface="League Spartan"/>
                <a:cs typeface="League Spartan"/>
                <a:sym typeface="League Spartan"/>
              </a:rPr>
              <a:t>ผลลัพธ์ของ </a:t>
            </a:r>
            <a:r>
              <a:rPr lang="en-US" sz="6249" spc="-231">
                <a:solidFill>
                  <a:srgbClr val="162F65"/>
                </a:solidFill>
                <a:latin typeface="League Spartan"/>
                <a:ea typeface="League Spartan"/>
                <a:cs typeface="League Spartan"/>
                <a:sym typeface="League Spartan"/>
              </a:rPr>
              <a:t>Prompt แรก (Zero-shot Result)</a:t>
            </a:r>
          </a:p>
        </p:txBody>
      </p:sp>
    </p:spTree>
  </p:cSld>
  <p:clrMapOvr>
    <a:masterClrMapping/>
  </p:clrMapOvr>
</p:sld>
</file>

<file path=ppt/slides/slide17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-6818" t="0" r="-6818" b="0"/>
            </a:stretch>
          </a:blipFill>
        </p:spPr>
      </p:sp>
      <p:sp>
        <p:nvSpPr>
          <p:cNvPr name="Freeform 3" id="3"/>
          <p:cNvSpPr/>
          <p:nvPr/>
        </p:nvSpPr>
        <p:spPr>
          <a:xfrm flipH="false" flipV="false" rot="0">
            <a:off x="3396250" y="3696743"/>
            <a:ext cx="11567662" cy="6070417"/>
          </a:xfrm>
          <a:custGeom>
            <a:avLst/>
            <a:gdLst/>
            <a:ahLst/>
            <a:cxnLst/>
            <a:rect r="r" b="b" t="t" l="l"/>
            <a:pathLst>
              <a:path h="6070417" w="11567662">
                <a:moveTo>
                  <a:pt x="0" y="0"/>
                </a:moveTo>
                <a:lnTo>
                  <a:pt x="11567662" y="0"/>
                </a:lnTo>
                <a:lnTo>
                  <a:pt x="11567662" y="6070418"/>
                </a:lnTo>
                <a:lnTo>
                  <a:pt x="0" y="6070418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  <p:sp>
        <p:nvSpPr>
          <p:cNvPr name="TextBox 4" id="4"/>
          <p:cNvSpPr txBox="true"/>
          <p:nvPr/>
        </p:nvSpPr>
        <p:spPr>
          <a:xfrm rot="0">
            <a:off x="3396250" y="847725"/>
            <a:ext cx="11495500" cy="23050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9374"/>
              </a:lnSpc>
            </a:pPr>
            <a:r>
              <a:rPr lang="en-US" sz="6249" spc="-231">
                <a:solidFill>
                  <a:srgbClr val="162F65"/>
                </a:solidFill>
                <a:latin typeface="League Spartan"/>
                <a:ea typeface="League Spartan"/>
                <a:cs typeface="League Spartan"/>
                <a:sym typeface="League Spartan"/>
              </a:rPr>
              <a:t>การถาม-ตอบ / ปรับแต่ง </a:t>
            </a:r>
            <a:r>
              <a:rPr lang="en-US" sz="6249" spc="-231">
                <a:solidFill>
                  <a:srgbClr val="162F65"/>
                </a:solidFill>
                <a:latin typeface="League Spartan"/>
                <a:ea typeface="League Spartan"/>
                <a:cs typeface="League Spartan"/>
                <a:sym typeface="League Spartan"/>
              </a:rPr>
              <a:t>Prompt </a:t>
            </a:r>
          </a:p>
          <a:p>
            <a:pPr algn="ctr">
              <a:lnSpc>
                <a:spcPts val="9374"/>
              </a:lnSpc>
            </a:pPr>
            <a:r>
              <a:rPr lang="en-US" sz="6249" spc="-231">
                <a:solidFill>
                  <a:srgbClr val="162F65"/>
                </a:solidFill>
                <a:latin typeface="League Spartan"/>
                <a:ea typeface="League Spartan"/>
                <a:cs typeface="League Spartan"/>
                <a:sym typeface="League Spartan"/>
              </a:rPr>
              <a:t>(Few-shot &amp; Context Prompt)</a:t>
            </a:r>
          </a:p>
        </p:txBody>
      </p:sp>
    </p:spTree>
  </p:cSld>
  <p:clrMapOvr>
    <a:masterClrMapping/>
  </p:clrMapOvr>
</p:sld>
</file>

<file path=ppt/slides/slide18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-6818" t="0" r="-6818" b="0"/>
            </a:stretch>
          </a:blipFill>
        </p:spPr>
      </p:sp>
      <p:sp>
        <p:nvSpPr>
          <p:cNvPr name="Freeform 3" id="3"/>
          <p:cNvSpPr/>
          <p:nvPr/>
        </p:nvSpPr>
        <p:spPr>
          <a:xfrm flipH="false" flipV="false" rot="0">
            <a:off x="1750370" y="2408893"/>
            <a:ext cx="14787260" cy="6386248"/>
          </a:xfrm>
          <a:custGeom>
            <a:avLst/>
            <a:gdLst/>
            <a:ahLst/>
            <a:cxnLst/>
            <a:rect r="r" b="b" t="t" l="l"/>
            <a:pathLst>
              <a:path h="6386248" w="14787260">
                <a:moveTo>
                  <a:pt x="0" y="0"/>
                </a:moveTo>
                <a:lnTo>
                  <a:pt x="14787260" y="0"/>
                </a:lnTo>
                <a:lnTo>
                  <a:pt x="14787260" y="6386247"/>
                </a:lnTo>
                <a:lnTo>
                  <a:pt x="0" y="6386247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  <p:sp>
        <p:nvSpPr>
          <p:cNvPr name="TextBox 4" id="4"/>
          <p:cNvSpPr txBox="true"/>
          <p:nvPr/>
        </p:nvSpPr>
        <p:spPr>
          <a:xfrm rot="0">
            <a:off x="1028700" y="1171575"/>
            <a:ext cx="16230600" cy="80801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6"/>
              </a:lnSpc>
            </a:pPr>
            <a:r>
              <a:rPr lang="en-US" sz="6249" spc="-231">
                <a:solidFill>
                  <a:srgbClr val="162F65"/>
                </a:solidFill>
                <a:latin typeface="League Spartan"/>
                <a:ea typeface="League Spartan"/>
                <a:cs typeface="League Spartan"/>
                <a:sym typeface="League Spartan"/>
              </a:rPr>
              <a:t>ผลลัพธ์ ของ P</a:t>
            </a:r>
            <a:r>
              <a:rPr lang="en-US" sz="6249" spc="-231">
                <a:solidFill>
                  <a:srgbClr val="162F65"/>
                </a:solidFill>
                <a:latin typeface="League Spartan"/>
                <a:ea typeface="League Spartan"/>
                <a:cs typeface="League Spartan"/>
                <a:sym typeface="League Spartan"/>
              </a:rPr>
              <a:t>rompt ใหม่</a:t>
            </a:r>
          </a:p>
        </p:txBody>
      </p:sp>
    </p:spTree>
  </p:cSld>
  <p:clrMapOvr>
    <a:masterClrMapping/>
  </p:clrMapOvr>
</p:sld>
</file>

<file path=ppt/slides/slide19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-6818" t="0" r="-6818" b="0"/>
            </a:stretch>
          </a:blipFill>
        </p:spPr>
      </p:sp>
      <p:sp>
        <p:nvSpPr>
          <p:cNvPr name="Freeform 3" id="3"/>
          <p:cNvSpPr/>
          <p:nvPr/>
        </p:nvSpPr>
        <p:spPr>
          <a:xfrm flipH="false" flipV="false" rot="0">
            <a:off x="3266386" y="3039351"/>
            <a:ext cx="3272794" cy="4713294"/>
          </a:xfrm>
          <a:custGeom>
            <a:avLst/>
            <a:gdLst/>
            <a:ahLst/>
            <a:cxnLst/>
            <a:rect r="r" b="b" t="t" l="l"/>
            <a:pathLst>
              <a:path h="4713294" w="3272794">
                <a:moveTo>
                  <a:pt x="0" y="0"/>
                </a:moveTo>
                <a:lnTo>
                  <a:pt x="3272793" y="0"/>
                </a:lnTo>
                <a:lnTo>
                  <a:pt x="3272793" y="4713294"/>
                </a:lnTo>
                <a:lnTo>
                  <a:pt x="0" y="471329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  <p:sp>
        <p:nvSpPr>
          <p:cNvPr name="Freeform 4" id="4"/>
          <p:cNvSpPr/>
          <p:nvPr/>
        </p:nvSpPr>
        <p:spPr>
          <a:xfrm flipH="false" flipV="false" rot="0">
            <a:off x="10223395" y="3340700"/>
            <a:ext cx="6629993" cy="4110596"/>
          </a:xfrm>
          <a:custGeom>
            <a:avLst/>
            <a:gdLst/>
            <a:ahLst/>
            <a:cxnLst/>
            <a:rect r="r" b="b" t="t" l="l"/>
            <a:pathLst>
              <a:path h="4110596" w="6629993">
                <a:moveTo>
                  <a:pt x="0" y="0"/>
                </a:moveTo>
                <a:lnTo>
                  <a:pt x="6629993" y="0"/>
                </a:lnTo>
                <a:lnTo>
                  <a:pt x="6629993" y="4110596"/>
                </a:lnTo>
                <a:lnTo>
                  <a:pt x="0" y="4110596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 l="0" t="0" r="0" b="0"/>
            </a:stretch>
          </a:blipFill>
        </p:spPr>
      </p:sp>
      <p:sp>
        <p:nvSpPr>
          <p:cNvPr name="TextBox 5" id="5"/>
          <p:cNvSpPr txBox="true"/>
          <p:nvPr/>
        </p:nvSpPr>
        <p:spPr>
          <a:xfrm rot="0">
            <a:off x="816906" y="8078980"/>
            <a:ext cx="8171752" cy="114795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050"/>
              </a:lnSpc>
              <a:spcBef>
                <a:spcPct val="0"/>
              </a:spcBef>
            </a:pPr>
            <a:r>
              <a:rPr lang="en-US" b="true" sz="2699">
                <a:solidFill>
                  <a:srgbClr val="162F65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ได้ไดอะแ</a:t>
            </a:r>
            <a:r>
              <a:rPr lang="en-US" b="true" sz="2699">
                <a:solidFill>
                  <a:srgbClr val="162F65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กรมแบบง่าย เช่น [Phone] -&gt; [Earbuds] -&gt; [Speaker] ซึ่งขาดรายละเอียดเชิงเทคนิคและสถาปัตยกรรมบลูทูธ</a:t>
            </a:r>
          </a:p>
        </p:txBody>
      </p:sp>
      <p:sp>
        <p:nvSpPr>
          <p:cNvPr name="TextBox 6" id="6"/>
          <p:cNvSpPr txBox="true"/>
          <p:nvPr/>
        </p:nvSpPr>
        <p:spPr>
          <a:xfrm rot="0">
            <a:off x="1028700" y="1171575"/>
            <a:ext cx="16230600" cy="156049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6"/>
              </a:lnSpc>
            </a:pPr>
            <a:r>
              <a:rPr lang="en-US" sz="6249" spc="-231">
                <a:solidFill>
                  <a:srgbClr val="162F65"/>
                </a:solidFill>
                <a:latin typeface="League Spartan"/>
                <a:ea typeface="League Spartan"/>
                <a:cs typeface="League Spartan"/>
                <a:sym typeface="League Spartan"/>
              </a:rPr>
              <a:t>สะท้อนการเรียนรู้ของการได้มาของ </a:t>
            </a:r>
          </a:p>
          <a:p>
            <a:pPr algn="ctr">
              <a:lnSpc>
                <a:spcPts val="5936"/>
              </a:lnSpc>
            </a:pPr>
            <a:r>
              <a:rPr lang="en-US" sz="6249" spc="-231">
                <a:solidFill>
                  <a:srgbClr val="162F65"/>
                </a:solidFill>
                <a:latin typeface="League Spartan"/>
                <a:ea typeface="League Spartan"/>
                <a:cs typeface="League Spartan"/>
                <a:sym typeface="League Spartan"/>
              </a:rPr>
              <a:t>ผลลัพธ์แรก กับ</a:t>
            </a:r>
            <a:r>
              <a:rPr lang="en-US" sz="6249" spc="-231">
                <a:solidFill>
                  <a:srgbClr val="162F65"/>
                </a:solidFill>
                <a:latin typeface="League Spartan"/>
                <a:ea typeface="League Spartan"/>
                <a:cs typeface="League Spartan"/>
                <a:sym typeface="League Spartan"/>
              </a:rPr>
              <a:t> ผลลัพธ์ใหม่ </a:t>
            </a:r>
          </a:p>
        </p:txBody>
      </p:sp>
      <p:sp>
        <p:nvSpPr>
          <p:cNvPr name="TextBox 7" id="7"/>
          <p:cNvSpPr txBox="true"/>
          <p:nvPr/>
        </p:nvSpPr>
        <p:spPr>
          <a:xfrm rot="0">
            <a:off x="9314469" y="8055561"/>
            <a:ext cx="8447844" cy="152895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051"/>
              </a:lnSpc>
              <a:spcBef>
                <a:spcPct val="0"/>
              </a:spcBef>
            </a:pPr>
            <a:r>
              <a:rPr lang="en-US" b="true" sz="2700">
                <a:solidFill>
                  <a:srgbClr val="162F65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การระ</a:t>
            </a:r>
            <a:r>
              <a:rPr lang="en-US" b="true" sz="2700">
                <a:solidFill>
                  <a:srgbClr val="162F65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บุโครงสร้าง Sequenc</a:t>
            </a:r>
            <a:r>
              <a:rPr lang="en-US" b="true" sz="2700">
                <a:solidFill>
                  <a:srgbClr val="162F65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e Diagram และระบุ Actor/Participant แต่ละฝ่าย ช่วยให้ได้โค้ด Mermaid ที่แสดงวิศวกรรมระบบ (Systems Architecture) ได้อย่างเป็นมืออาชีพ</a:t>
            </a:r>
          </a:p>
        </p:txBody>
      </p:sp>
    </p:spTree>
  </p:cSld>
  <p:clrMapOvr>
    <a:masterClrMapping/>
  </p:clrMapOvr>
</p:sld>
</file>

<file path=ppt/slides/slide20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-6818" t="0" r="-6818" b="0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1028700" y="3455991"/>
            <a:ext cx="16230600" cy="312736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2625"/>
              </a:lnSpc>
            </a:pPr>
            <a:r>
              <a:rPr lang="en-US" sz="8416" spc="-311">
                <a:solidFill>
                  <a:srgbClr val="162F65"/>
                </a:solidFill>
                <a:latin typeface="League Spartan"/>
                <a:ea typeface="League Spartan"/>
                <a:cs typeface="League Spartan"/>
                <a:sym typeface="League Spartan"/>
              </a:rPr>
              <a:t>การสร้างบทความ หรือ หนังสือ จาก LaTeX</a:t>
            </a:r>
            <a:r>
              <a:rPr lang="en-US" sz="8416" spc="-311">
                <a:solidFill>
                  <a:srgbClr val="162F65"/>
                </a:solidFill>
                <a:latin typeface="League Spartan"/>
                <a:ea typeface="League Spartan"/>
                <a:cs typeface="League Spartan"/>
                <a:sym typeface="League Spartan"/>
              </a:rPr>
              <a:t> (Overleaf)</a:t>
            </a:r>
          </a:p>
        </p:txBody>
      </p:sp>
    </p:spTree>
  </p:cSld>
  <p:clrMapOvr>
    <a:masterClrMapping/>
  </p:clrMapOvr>
</p:sld>
</file>

<file path=ppt/slides/slide21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-6818" t="0" r="-6818" b="0"/>
            </a:stretch>
          </a:blipFill>
        </p:spPr>
      </p:sp>
      <p:sp>
        <p:nvSpPr>
          <p:cNvPr name="Freeform 3" id="3"/>
          <p:cNvSpPr/>
          <p:nvPr/>
        </p:nvSpPr>
        <p:spPr>
          <a:xfrm flipH="false" flipV="false" rot="0">
            <a:off x="4070776" y="2778380"/>
            <a:ext cx="10146447" cy="6061514"/>
          </a:xfrm>
          <a:custGeom>
            <a:avLst/>
            <a:gdLst/>
            <a:ahLst/>
            <a:cxnLst/>
            <a:rect r="r" b="b" t="t" l="l"/>
            <a:pathLst>
              <a:path h="6061514" w="10146447">
                <a:moveTo>
                  <a:pt x="0" y="0"/>
                </a:moveTo>
                <a:lnTo>
                  <a:pt x="10146448" y="0"/>
                </a:lnTo>
                <a:lnTo>
                  <a:pt x="10146448" y="6061514"/>
                </a:lnTo>
                <a:lnTo>
                  <a:pt x="0" y="606151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  <p:sp>
        <p:nvSpPr>
          <p:cNvPr name="TextBox 4" id="4"/>
          <p:cNvSpPr txBox="true"/>
          <p:nvPr/>
        </p:nvSpPr>
        <p:spPr>
          <a:xfrm rot="0">
            <a:off x="3275774" y="1272479"/>
            <a:ext cx="12134722" cy="80699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5936"/>
              </a:lnSpc>
            </a:pPr>
            <a:r>
              <a:rPr lang="en-US" sz="6249" spc="-231">
                <a:solidFill>
                  <a:srgbClr val="162F65"/>
                </a:solidFill>
                <a:latin typeface="League Spartan"/>
                <a:ea typeface="League Spartan"/>
                <a:cs typeface="League Spartan"/>
                <a:sym typeface="League Spartan"/>
              </a:rPr>
              <a:t>Prompt แรก (Zero-shot Prompt)</a:t>
            </a:r>
          </a:p>
        </p:txBody>
      </p:sp>
    </p:spTree>
  </p:cSld>
  <p:clrMapOvr>
    <a:masterClrMapping/>
  </p:clrMapOvr>
</p:sld>
</file>

<file path=ppt/slides/slide22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-6818" t="0" r="-6818" b="0"/>
            </a:stretch>
          </a:blipFill>
        </p:spPr>
      </p:sp>
      <p:sp>
        <p:nvSpPr>
          <p:cNvPr name="Freeform 3" id="3"/>
          <p:cNvSpPr/>
          <p:nvPr/>
        </p:nvSpPr>
        <p:spPr>
          <a:xfrm flipH="false" flipV="false" rot="0">
            <a:off x="3446877" y="2616244"/>
            <a:ext cx="11394245" cy="6506810"/>
          </a:xfrm>
          <a:custGeom>
            <a:avLst/>
            <a:gdLst/>
            <a:ahLst/>
            <a:cxnLst/>
            <a:rect r="r" b="b" t="t" l="l"/>
            <a:pathLst>
              <a:path h="6506810" w="11394245">
                <a:moveTo>
                  <a:pt x="0" y="0"/>
                </a:moveTo>
                <a:lnTo>
                  <a:pt x="11394246" y="0"/>
                </a:lnTo>
                <a:lnTo>
                  <a:pt x="11394246" y="6506811"/>
                </a:lnTo>
                <a:lnTo>
                  <a:pt x="0" y="6506811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  <p:sp>
        <p:nvSpPr>
          <p:cNvPr name="TextBox 4" id="4"/>
          <p:cNvSpPr txBox="true"/>
          <p:nvPr/>
        </p:nvSpPr>
        <p:spPr>
          <a:xfrm rot="0">
            <a:off x="1501734" y="1171575"/>
            <a:ext cx="15284532" cy="80699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5936"/>
              </a:lnSpc>
            </a:pPr>
            <a:r>
              <a:rPr lang="en-US" sz="6249" spc="-231">
                <a:solidFill>
                  <a:srgbClr val="162F65"/>
                </a:solidFill>
                <a:latin typeface="League Spartan"/>
                <a:ea typeface="League Spartan"/>
                <a:cs typeface="League Spartan"/>
                <a:sym typeface="League Spartan"/>
              </a:rPr>
              <a:t>ผลลัพธ์ของ </a:t>
            </a:r>
            <a:r>
              <a:rPr lang="en-US" sz="6249" spc="-231">
                <a:solidFill>
                  <a:srgbClr val="162F65"/>
                </a:solidFill>
                <a:latin typeface="League Spartan"/>
                <a:ea typeface="League Spartan"/>
                <a:cs typeface="League Spartan"/>
                <a:sym typeface="League Spartan"/>
              </a:rPr>
              <a:t>Prompt แรก (Zero-shot Result)</a:t>
            </a:r>
          </a:p>
        </p:txBody>
      </p:sp>
    </p:spTree>
  </p:cSld>
  <p:clrMapOvr>
    <a:masterClrMapping/>
  </p:clrMapOvr>
</p:sld>
</file>

<file path=ppt/slides/slide23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-6818" t="0" r="-6818" b="0"/>
            </a:stretch>
          </a:blipFill>
        </p:spPr>
      </p:sp>
      <p:sp>
        <p:nvSpPr>
          <p:cNvPr name="Freeform 3" id="3"/>
          <p:cNvSpPr/>
          <p:nvPr/>
        </p:nvSpPr>
        <p:spPr>
          <a:xfrm flipH="false" flipV="false" rot="0">
            <a:off x="4906888" y="3435953"/>
            <a:ext cx="8474223" cy="6259179"/>
          </a:xfrm>
          <a:custGeom>
            <a:avLst/>
            <a:gdLst/>
            <a:ahLst/>
            <a:cxnLst/>
            <a:rect r="r" b="b" t="t" l="l"/>
            <a:pathLst>
              <a:path h="6259179" w="8474223">
                <a:moveTo>
                  <a:pt x="0" y="0"/>
                </a:moveTo>
                <a:lnTo>
                  <a:pt x="8474224" y="0"/>
                </a:lnTo>
                <a:lnTo>
                  <a:pt x="8474224" y="6259179"/>
                </a:lnTo>
                <a:lnTo>
                  <a:pt x="0" y="6259179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  <p:sp>
        <p:nvSpPr>
          <p:cNvPr name="TextBox 4" id="4"/>
          <p:cNvSpPr txBox="true"/>
          <p:nvPr/>
        </p:nvSpPr>
        <p:spPr>
          <a:xfrm rot="0">
            <a:off x="3396250" y="847725"/>
            <a:ext cx="11495500" cy="23050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9374"/>
              </a:lnSpc>
            </a:pPr>
            <a:r>
              <a:rPr lang="en-US" sz="6249" spc="-231">
                <a:solidFill>
                  <a:srgbClr val="162F65"/>
                </a:solidFill>
                <a:latin typeface="League Spartan"/>
                <a:ea typeface="League Spartan"/>
                <a:cs typeface="League Spartan"/>
                <a:sym typeface="League Spartan"/>
              </a:rPr>
              <a:t>การถาม-ตอบ / ปรับแต่ง </a:t>
            </a:r>
            <a:r>
              <a:rPr lang="en-US" sz="6249" spc="-231">
                <a:solidFill>
                  <a:srgbClr val="162F65"/>
                </a:solidFill>
                <a:latin typeface="League Spartan"/>
                <a:ea typeface="League Spartan"/>
                <a:cs typeface="League Spartan"/>
                <a:sym typeface="League Spartan"/>
              </a:rPr>
              <a:t>Prompt </a:t>
            </a:r>
          </a:p>
          <a:p>
            <a:pPr algn="ctr">
              <a:lnSpc>
                <a:spcPts val="9374"/>
              </a:lnSpc>
            </a:pPr>
            <a:r>
              <a:rPr lang="en-US" sz="6249" spc="-231">
                <a:solidFill>
                  <a:srgbClr val="162F65"/>
                </a:solidFill>
                <a:latin typeface="League Spartan"/>
                <a:ea typeface="League Spartan"/>
                <a:cs typeface="League Spartan"/>
                <a:sym typeface="League Spartan"/>
              </a:rPr>
              <a:t>(Few-shot &amp; Context Prompt)</a:t>
            </a:r>
          </a:p>
        </p:txBody>
      </p:sp>
    </p:spTree>
  </p:cSld>
  <p:clrMapOvr>
    <a:masterClrMapping/>
  </p:clrMapOvr>
</p:sld>
</file>

<file path=ppt/slides/slide24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-6818" t="0" r="-6818" b="0"/>
            </a:stretch>
          </a:blipFill>
        </p:spPr>
      </p:sp>
      <p:sp>
        <p:nvSpPr>
          <p:cNvPr name="Freeform 3" id="3"/>
          <p:cNvSpPr/>
          <p:nvPr/>
        </p:nvSpPr>
        <p:spPr>
          <a:xfrm flipH="false" flipV="false" rot="0">
            <a:off x="2755405" y="2216382"/>
            <a:ext cx="12777189" cy="7305910"/>
          </a:xfrm>
          <a:custGeom>
            <a:avLst/>
            <a:gdLst/>
            <a:ahLst/>
            <a:cxnLst/>
            <a:rect r="r" b="b" t="t" l="l"/>
            <a:pathLst>
              <a:path h="7305910" w="12777189">
                <a:moveTo>
                  <a:pt x="0" y="0"/>
                </a:moveTo>
                <a:lnTo>
                  <a:pt x="12777190" y="0"/>
                </a:lnTo>
                <a:lnTo>
                  <a:pt x="12777190" y="7305911"/>
                </a:lnTo>
                <a:lnTo>
                  <a:pt x="0" y="7305911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  <p:sp>
        <p:nvSpPr>
          <p:cNvPr name="TextBox 4" id="4"/>
          <p:cNvSpPr txBox="true"/>
          <p:nvPr/>
        </p:nvSpPr>
        <p:spPr>
          <a:xfrm rot="0">
            <a:off x="1028700" y="1171575"/>
            <a:ext cx="16230600" cy="80801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6"/>
              </a:lnSpc>
            </a:pPr>
            <a:r>
              <a:rPr lang="en-US" sz="6249" spc="-231">
                <a:solidFill>
                  <a:srgbClr val="162F65"/>
                </a:solidFill>
                <a:latin typeface="League Spartan"/>
                <a:ea typeface="League Spartan"/>
                <a:cs typeface="League Spartan"/>
                <a:sym typeface="League Spartan"/>
              </a:rPr>
              <a:t>ผลลัพธ์ ของ P</a:t>
            </a:r>
            <a:r>
              <a:rPr lang="en-US" sz="6249" spc="-231">
                <a:solidFill>
                  <a:srgbClr val="162F65"/>
                </a:solidFill>
                <a:latin typeface="League Spartan"/>
                <a:ea typeface="League Spartan"/>
                <a:cs typeface="League Spartan"/>
                <a:sym typeface="League Spartan"/>
              </a:rPr>
              <a:t>rompt ใหม่</a:t>
            </a:r>
          </a:p>
        </p:txBody>
      </p:sp>
    </p:spTree>
  </p:cSld>
  <p:clrMapOvr>
    <a:masterClrMapping/>
  </p:clrMapOvr>
</p:sld>
</file>

<file path=ppt/slides/slide25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-6818" t="0" r="-6818" b="0"/>
            </a:stretch>
          </a:blipFill>
        </p:spPr>
      </p:sp>
      <p:sp>
        <p:nvSpPr>
          <p:cNvPr name="Freeform 3" id="3"/>
          <p:cNvSpPr/>
          <p:nvPr/>
        </p:nvSpPr>
        <p:spPr>
          <a:xfrm flipH="false" flipV="false" rot="0">
            <a:off x="9738836" y="3110954"/>
            <a:ext cx="3950836" cy="4593378"/>
          </a:xfrm>
          <a:custGeom>
            <a:avLst/>
            <a:gdLst/>
            <a:ahLst/>
            <a:cxnLst/>
            <a:rect r="r" b="b" t="t" l="l"/>
            <a:pathLst>
              <a:path h="4593378" w="3950836">
                <a:moveTo>
                  <a:pt x="0" y="0"/>
                </a:moveTo>
                <a:lnTo>
                  <a:pt x="3950836" y="0"/>
                </a:lnTo>
                <a:lnTo>
                  <a:pt x="3950836" y="4593378"/>
                </a:lnTo>
                <a:lnTo>
                  <a:pt x="0" y="4593378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  <p:sp>
        <p:nvSpPr>
          <p:cNvPr name="Freeform 4" id="4"/>
          <p:cNvSpPr/>
          <p:nvPr/>
        </p:nvSpPr>
        <p:spPr>
          <a:xfrm flipH="false" flipV="false" rot="0">
            <a:off x="13689672" y="3110954"/>
            <a:ext cx="3923399" cy="4593378"/>
          </a:xfrm>
          <a:custGeom>
            <a:avLst/>
            <a:gdLst/>
            <a:ahLst/>
            <a:cxnLst/>
            <a:rect r="r" b="b" t="t" l="l"/>
            <a:pathLst>
              <a:path h="4593378" w="3923399">
                <a:moveTo>
                  <a:pt x="0" y="0"/>
                </a:moveTo>
                <a:lnTo>
                  <a:pt x="3923399" y="0"/>
                </a:lnTo>
                <a:lnTo>
                  <a:pt x="3923399" y="4593378"/>
                </a:lnTo>
                <a:lnTo>
                  <a:pt x="0" y="4593378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 l="0" t="0" r="0" b="0"/>
            </a:stretch>
          </a:blipFill>
        </p:spPr>
      </p:sp>
      <p:sp>
        <p:nvSpPr>
          <p:cNvPr name="Freeform 5" id="5"/>
          <p:cNvSpPr/>
          <p:nvPr/>
        </p:nvSpPr>
        <p:spPr>
          <a:xfrm flipH="false" flipV="false" rot="0">
            <a:off x="951612" y="3039201"/>
            <a:ext cx="4017357" cy="4736884"/>
          </a:xfrm>
          <a:custGeom>
            <a:avLst/>
            <a:gdLst/>
            <a:ahLst/>
            <a:cxnLst/>
            <a:rect r="r" b="b" t="t" l="l"/>
            <a:pathLst>
              <a:path h="4736884" w="4017357">
                <a:moveTo>
                  <a:pt x="0" y="0"/>
                </a:moveTo>
                <a:lnTo>
                  <a:pt x="4017357" y="0"/>
                </a:lnTo>
                <a:lnTo>
                  <a:pt x="4017357" y="4736884"/>
                </a:lnTo>
                <a:lnTo>
                  <a:pt x="0" y="4736884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>
              <a:fillRect l="0" t="0" r="0" b="0"/>
            </a:stretch>
          </a:blipFill>
        </p:spPr>
      </p:sp>
      <p:sp>
        <p:nvSpPr>
          <p:cNvPr name="Freeform 6" id="6"/>
          <p:cNvSpPr/>
          <p:nvPr/>
        </p:nvSpPr>
        <p:spPr>
          <a:xfrm flipH="false" flipV="false" rot="0">
            <a:off x="4734926" y="3039201"/>
            <a:ext cx="4028259" cy="4736884"/>
          </a:xfrm>
          <a:custGeom>
            <a:avLst/>
            <a:gdLst/>
            <a:ahLst/>
            <a:cxnLst/>
            <a:rect r="r" b="b" t="t" l="l"/>
            <a:pathLst>
              <a:path h="4736884" w="4028259">
                <a:moveTo>
                  <a:pt x="0" y="0"/>
                </a:moveTo>
                <a:lnTo>
                  <a:pt x="4028259" y="0"/>
                </a:lnTo>
                <a:lnTo>
                  <a:pt x="4028259" y="4736884"/>
                </a:lnTo>
                <a:lnTo>
                  <a:pt x="0" y="4736884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>
              <a:fillRect l="0" t="0" r="0" b="0"/>
            </a:stretch>
          </a:blipFill>
        </p:spPr>
      </p:sp>
      <p:sp>
        <p:nvSpPr>
          <p:cNvPr name="TextBox 7" id="7"/>
          <p:cNvSpPr txBox="true"/>
          <p:nvPr/>
        </p:nvSpPr>
        <p:spPr>
          <a:xfrm rot="0">
            <a:off x="816906" y="8078980"/>
            <a:ext cx="8171752" cy="76695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050"/>
              </a:lnSpc>
              <a:spcBef>
                <a:spcPct val="0"/>
              </a:spcBef>
            </a:pPr>
            <a:r>
              <a:rPr lang="en-US" b="true" sz="2699">
                <a:solidFill>
                  <a:srgbClr val="162F65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ได้โค้ดที่</a:t>
            </a:r>
            <a:r>
              <a:rPr lang="en-US" b="true" sz="2699">
                <a:solidFill>
                  <a:srgbClr val="162F65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มีแค่บทความ ไม่มีโครงสร้างตาราง การอ้างอิง หรือส่วนประกอบของเอกสารวิชาการที่สมบูรณ์</a:t>
            </a:r>
          </a:p>
        </p:txBody>
      </p:sp>
      <p:sp>
        <p:nvSpPr>
          <p:cNvPr name="TextBox 8" id="8"/>
          <p:cNvSpPr txBox="true"/>
          <p:nvPr/>
        </p:nvSpPr>
        <p:spPr>
          <a:xfrm rot="0">
            <a:off x="1028700" y="1171575"/>
            <a:ext cx="16230600" cy="156049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6"/>
              </a:lnSpc>
            </a:pPr>
            <a:r>
              <a:rPr lang="en-US" sz="6249" spc="-231">
                <a:solidFill>
                  <a:srgbClr val="162F65"/>
                </a:solidFill>
                <a:latin typeface="League Spartan"/>
                <a:ea typeface="League Spartan"/>
                <a:cs typeface="League Spartan"/>
                <a:sym typeface="League Spartan"/>
              </a:rPr>
              <a:t>สะท้อนการเรียนรู้ของการได้มาของ </a:t>
            </a:r>
          </a:p>
          <a:p>
            <a:pPr algn="ctr">
              <a:lnSpc>
                <a:spcPts val="5936"/>
              </a:lnSpc>
            </a:pPr>
            <a:r>
              <a:rPr lang="en-US" sz="6249" spc="-231">
                <a:solidFill>
                  <a:srgbClr val="162F65"/>
                </a:solidFill>
                <a:latin typeface="League Spartan"/>
                <a:ea typeface="League Spartan"/>
                <a:cs typeface="League Spartan"/>
                <a:sym typeface="League Spartan"/>
              </a:rPr>
              <a:t>ผลลัพธ์แรก กับ</a:t>
            </a:r>
            <a:r>
              <a:rPr lang="en-US" sz="6249" spc="-231">
                <a:solidFill>
                  <a:srgbClr val="162F65"/>
                </a:solidFill>
                <a:latin typeface="League Spartan"/>
                <a:ea typeface="League Spartan"/>
                <a:cs typeface="League Spartan"/>
                <a:sym typeface="League Spartan"/>
              </a:rPr>
              <a:t> ผลลัพธ์ใหม่ </a:t>
            </a:r>
          </a:p>
        </p:txBody>
      </p:sp>
      <p:sp>
        <p:nvSpPr>
          <p:cNvPr name="TextBox 9" id="9"/>
          <p:cNvSpPr txBox="true"/>
          <p:nvPr/>
        </p:nvSpPr>
        <p:spPr>
          <a:xfrm rot="0">
            <a:off x="9314469" y="8055561"/>
            <a:ext cx="8447844" cy="152895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051"/>
              </a:lnSpc>
              <a:spcBef>
                <a:spcPct val="0"/>
              </a:spcBef>
            </a:pPr>
            <a:r>
              <a:rPr lang="en-US" b="true" sz="2700">
                <a:solidFill>
                  <a:srgbClr val="162F65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ได้ซอร์สโค้ด LaTeX ที่มีโครงสร้างบทความวิจัยสม</a:t>
            </a:r>
            <a:r>
              <a:rPr lang="en-US" b="true" sz="2700">
                <a:solidFill>
                  <a:srgbClr val="162F65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บูรณ์ จัดหน้าสวยงาม มีตารางเปรียบเทียบ Codec ที่ใช้ \toprule, \mi</a:t>
            </a:r>
            <a:r>
              <a:rPr lang="en-US" b="true" sz="2700">
                <a:solidFill>
                  <a:srgbClr val="162F65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drule, \bottomrule พร้อมนำไปวางใน Overleaf เพื่อกด Compile เป็น PDF ได้ทันที</a:t>
            </a:r>
          </a:p>
        </p:txBody>
      </p:sp>
    </p:spTree>
  </p:cSld>
  <p:clrMapOvr>
    <a:masterClrMapping/>
  </p:clrMapOvr>
</p:sld>
</file>

<file path=ppt/slides/slide26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-6818" t="0" r="-6818" b="0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1028700" y="3455991"/>
            <a:ext cx="16230600" cy="312736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2625"/>
              </a:lnSpc>
            </a:pPr>
            <a:r>
              <a:rPr lang="en-US" sz="8416" spc="-311">
                <a:solidFill>
                  <a:srgbClr val="162F65"/>
                </a:solidFill>
                <a:latin typeface="League Spartan"/>
                <a:ea typeface="League Spartan"/>
                <a:cs typeface="League Spartan"/>
                <a:sym typeface="League Spartan"/>
              </a:rPr>
              <a:t>การสร้าง Slide สรุปงานด้วย</a:t>
            </a:r>
            <a:r>
              <a:rPr lang="en-US" sz="8416" spc="-311">
                <a:solidFill>
                  <a:srgbClr val="162F65"/>
                </a:solidFill>
                <a:latin typeface="League Spartan"/>
                <a:ea typeface="League Spartan"/>
                <a:cs typeface="League Spartan"/>
                <a:sym typeface="League Spartan"/>
              </a:rPr>
              <a:t> NotebookLM</a:t>
            </a:r>
          </a:p>
        </p:txBody>
      </p:sp>
    </p:spTree>
  </p:cSld>
  <p:clrMapOvr>
    <a:masterClrMapping/>
  </p:clrMapOvr>
</p:sld>
</file>

<file path=ppt/slides/slide27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-6818" t="0" r="-6818" b="0"/>
            </a:stretch>
          </a:blipFill>
        </p:spPr>
      </p:sp>
      <p:sp>
        <p:nvSpPr>
          <p:cNvPr name="Freeform 3" id="3"/>
          <p:cNvSpPr/>
          <p:nvPr/>
        </p:nvSpPr>
        <p:spPr>
          <a:xfrm flipH="false" flipV="false" rot="0">
            <a:off x="2601885" y="2887915"/>
            <a:ext cx="13084230" cy="6370385"/>
          </a:xfrm>
          <a:custGeom>
            <a:avLst/>
            <a:gdLst/>
            <a:ahLst/>
            <a:cxnLst/>
            <a:rect r="r" b="b" t="t" l="l"/>
            <a:pathLst>
              <a:path h="6370385" w="13084230">
                <a:moveTo>
                  <a:pt x="0" y="0"/>
                </a:moveTo>
                <a:lnTo>
                  <a:pt x="13084230" y="0"/>
                </a:lnTo>
                <a:lnTo>
                  <a:pt x="13084230" y="6370385"/>
                </a:lnTo>
                <a:lnTo>
                  <a:pt x="0" y="6370385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  <p:sp>
        <p:nvSpPr>
          <p:cNvPr name="TextBox 4" id="4"/>
          <p:cNvSpPr txBox="true"/>
          <p:nvPr/>
        </p:nvSpPr>
        <p:spPr>
          <a:xfrm rot="0">
            <a:off x="3275774" y="1272479"/>
            <a:ext cx="12134722" cy="80699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5936"/>
              </a:lnSpc>
            </a:pPr>
            <a:r>
              <a:rPr lang="en-US" sz="6249" spc="-231">
                <a:solidFill>
                  <a:srgbClr val="162F65"/>
                </a:solidFill>
                <a:latin typeface="League Spartan"/>
                <a:ea typeface="League Spartan"/>
                <a:cs typeface="League Spartan"/>
                <a:sym typeface="League Spartan"/>
              </a:rPr>
              <a:t>Prompt แรก (Zero-shot Prompt)</a:t>
            </a:r>
          </a:p>
        </p:txBody>
      </p:sp>
    </p:spTree>
  </p:cSld>
  <p:clrMapOvr>
    <a:masterClrMapping/>
  </p:clrMapOvr>
</p:sld>
</file>

<file path=ppt/slides/slide28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-6818" t="0" r="-6818" b="0"/>
            </a:stretch>
          </a:blipFill>
        </p:spPr>
      </p:sp>
      <p:sp>
        <p:nvSpPr>
          <p:cNvPr name="Freeform 3" id="3"/>
          <p:cNvSpPr/>
          <p:nvPr/>
        </p:nvSpPr>
        <p:spPr>
          <a:xfrm flipH="false" flipV="false" rot="0">
            <a:off x="2601885" y="3007474"/>
            <a:ext cx="13084230" cy="5724351"/>
          </a:xfrm>
          <a:custGeom>
            <a:avLst/>
            <a:gdLst/>
            <a:ahLst/>
            <a:cxnLst/>
            <a:rect r="r" b="b" t="t" l="l"/>
            <a:pathLst>
              <a:path h="5724351" w="13084230">
                <a:moveTo>
                  <a:pt x="0" y="0"/>
                </a:moveTo>
                <a:lnTo>
                  <a:pt x="13084230" y="0"/>
                </a:lnTo>
                <a:lnTo>
                  <a:pt x="13084230" y="5724351"/>
                </a:lnTo>
                <a:lnTo>
                  <a:pt x="0" y="5724351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  <p:sp>
        <p:nvSpPr>
          <p:cNvPr name="TextBox 4" id="4"/>
          <p:cNvSpPr txBox="true"/>
          <p:nvPr/>
        </p:nvSpPr>
        <p:spPr>
          <a:xfrm rot="0">
            <a:off x="1501734" y="1171575"/>
            <a:ext cx="15284532" cy="80699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5936"/>
              </a:lnSpc>
            </a:pPr>
            <a:r>
              <a:rPr lang="en-US" sz="6249" spc="-231">
                <a:solidFill>
                  <a:srgbClr val="162F65"/>
                </a:solidFill>
                <a:latin typeface="League Spartan"/>
                <a:ea typeface="League Spartan"/>
                <a:cs typeface="League Spartan"/>
                <a:sym typeface="League Spartan"/>
              </a:rPr>
              <a:t>ผลลัพธ์ของ </a:t>
            </a:r>
            <a:r>
              <a:rPr lang="en-US" sz="6249" spc="-231">
                <a:solidFill>
                  <a:srgbClr val="162F65"/>
                </a:solidFill>
                <a:latin typeface="League Spartan"/>
                <a:ea typeface="League Spartan"/>
                <a:cs typeface="League Spartan"/>
                <a:sym typeface="League Spartan"/>
              </a:rPr>
              <a:t>Prompt แรก (Zero-shot Result)</a:t>
            </a:r>
          </a:p>
        </p:txBody>
      </p:sp>
    </p:spTree>
  </p:cSld>
  <p:clrMapOvr>
    <a:masterClrMapping/>
  </p:clrMapOvr>
</p:sld>
</file>

<file path=ppt/slides/slide29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-6818" t="0" r="-6818" b="0"/>
            </a:stretch>
          </a:blipFill>
        </p:spPr>
      </p:sp>
      <p:sp>
        <p:nvSpPr>
          <p:cNvPr name="Freeform 3" id="3"/>
          <p:cNvSpPr/>
          <p:nvPr/>
        </p:nvSpPr>
        <p:spPr>
          <a:xfrm flipH="false" flipV="false" rot="0">
            <a:off x="5207083" y="3562825"/>
            <a:ext cx="7873834" cy="6156716"/>
          </a:xfrm>
          <a:custGeom>
            <a:avLst/>
            <a:gdLst/>
            <a:ahLst/>
            <a:cxnLst/>
            <a:rect r="r" b="b" t="t" l="l"/>
            <a:pathLst>
              <a:path h="6156716" w="7873834">
                <a:moveTo>
                  <a:pt x="0" y="0"/>
                </a:moveTo>
                <a:lnTo>
                  <a:pt x="7873834" y="0"/>
                </a:lnTo>
                <a:lnTo>
                  <a:pt x="7873834" y="6156716"/>
                </a:lnTo>
                <a:lnTo>
                  <a:pt x="0" y="6156716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  <p:sp>
        <p:nvSpPr>
          <p:cNvPr name="TextBox 4" id="4"/>
          <p:cNvSpPr txBox="true"/>
          <p:nvPr/>
        </p:nvSpPr>
        <p:spPr>
          <a:xfrm rot="0">
            <a:off x="3396250" y="847725"/>
            <a:ext cx="11495500" cy="23050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9374"/>
              </a:lnSpc>
            </a:pPr>
            <a:r>
              <a:rPr lang="en-US" sz="6249" spc="-231">
                <a:solidFill>
                  <a:srgbClr val="162F65"/>
                </a:solidFill>
                <a:latin typeface="League Spartan"/>
                <a:ea typeface="League Spartan"/>
                <a:cs typeface="League Spartan"/>
                <a:sym typeface="League Spartan"/>
              </a:rPr>
              <a:t>การถาม-ตอบ / ปรับแต่ง </a:t>
            </a:r>
            <a:r>
              <a:rPr lang="en-US" sz="6249" spc="-231">
                <a:solidFill>
                  <a:srgbClr val="162F65"/>
                </a:solidFill>
                <a:latin typeface="League Spartan"/>
                <a:ea typeface="League Spartan"/>
                <a:cs typeface="League Spartan"/>
                <a:sym typeface="League Spartan"/>
              </a:rPr>
              <a:t>Prompt </a:t>
            </a:r>
          </a:p>
          <a:p>
            <a:pPr algn="ctr">
              <a:lnSpc>
                <a:spcPts val="9374"/>
              </a:lnSpc>
            </a:pPr>
            <a:r>
              <a:rPr lang="en-US" sz="6249" spc="-231">
                <a:solidFill>
                  <a:srgbClr val="162F65"/>
                </a:solidFill>
                <a:latin typeface="League Spartan"/>
                <a:ea typeface="League Spartan"/>
                <a:cs typeface="League Spartan"/>
                <a:sym typeface="League Spartan"/>
              </a:rPr>
              <a:t>(Few-shot &amp; Context Prompt)</a:t>
            </a:r>
          </a:p>
        </p:txBody>
      </p:sp>
    </p:spTree>
  </p:cSld>
  <p:clrMapOvr>
    <a:masterClrMapping/>
  </p:clrMapOvr>
</p:sld>
</file>

<file path=ppt/slides/slide30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-6818" t="0" r="-6818" b="0"/>
            </a:stretch>
          </a:blipFill>
        </p:spPr>
      </p:sp>
      <p:sp>
        <p:nvSpPr>
          <p:cNvPr name="Freeform 3" id="3"/>
          <p:cNvSpPr/>
          <p:nvPr/>
        </p:nvSpPr>
        <p:spPr>
          <a:xfrm flipH="false" flipV="false" rot="0">
            <a:off x="2601885" y="2696734"/>
            <a:ext cx="13084230" cy="5740706"/>
          </a:xfrm>
          <a:custGeom>
            <a:avLst/>
            <a:gdLst/>
            <a:ahLst/>
            <a:cxnLst/>
            <a:rect r="r" b="b" t="t" l="l"/>
            <a:pathLst>
              <a:path h="5740706" w="13084230">
                <a:moveTo>
                  <a:pt x="0" y="0"/>
                </a:moveTo>
                <a:lnTo>
                  <a:pt x="13084230" y="0"/>
                </a:lnTo>
                <a:lnTo>
                  <a:pt x="13084230" y="5740706"/>
                </a:lnTo>
                <a:lnTo>
                  <a:pt x="0" y="5740706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  <p:sp>
        <p:nvSpPr>
          <p:cNvPr name="TextBox 4" id="4"/>
          <p:cNvSpPr txBox="true"/>
          <p:nvPr/>
        </p:nvSpPr>
        <p:spPr>
          <a:xfrm rot="0">
            <a:off x="1028700" y="1171575"/>
            <a:ext cx="16230600" cy="80801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6"/>
              </a:lnSpc>
            </a:pPr>
            <a:r>
              <a:rPr lang="en-US" sz="6249" spc="-231">
                <a:solidFill>
                  <a:srgbClr val="162F65"/>
                </a:solidFill>
                <a:latin typeface="League Spartan"/>
                <a:ea typeface="League Spartan"/>
                <a:cs typeface="League Spartan"/>
                <a:sym typeface="League Spartan"/>
              </a:rPr>
              <a:t>ผลลัพธ์ ของ P</a:t>
            </a:r>
            <a:r>
              <a:rPr lang="en-US" sz="6249" spc="-231">
                <a:solidFill>
                  <a:srgbClr val="162F65"/>
                </a:solidFill>
                <a:latin typeface="League Spartan"/>
                <a:ea typeface="League Spartan"/>
                <a:cs typeface="League Spartan"/>
                <a:sym typeface="League Spartan"/>
              </a:rPr>
              <a:t>rompt ใหม่</a:t>
            </a:r>
          </a:p>
        </p:txBody>
      </p:sp>
    </p:spTree>
  </p:cSld>
  <p:clrMapOvr>
    <a:masterClrMapping/>
  </p:clrMapOvr>
</p:sld>
</file>

<file path=ppt/slides/slide31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-6818" t="0" r="-6818" b="0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816906" y="8078980"/>
            <a:ext cx="8171752" cy="38595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050"/>
              </a:lnSpc>
              <a:spcBef>
                <a:spcPct val="0"/>
              </a:spcBef>
            </a:pPr>
            <a:r>
              <a:rPr lang="en-US" b="true" sz="2699">
                <a:solidFill>
                  <a:srgbClr val="162F65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สั่งเพียงให้สรุปเนื้อหาทั่วไป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028700" y="1171575"/>
            <a:ext cx="16230600" cy="156049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6"/>
              </a:lnSpc>
            </a:pPr>
            <a:r>
              <a:rPr lang="en-US" sz="6249" spc="-231">
                <a:solidFill>
                  <a:srgbClr val="162F65"/>
                </a:solidFill>
                <a:latin typeface="League Spartan"/>
                <a:ea typeface="League Spartan"/>
                <a:cs typeface="League Spartan"/>
                <a:sym typeface="League Spartan"/>
              </a:rPr>
              <a:t>สะท้อนการเรียนรู้ของการได้มาของ </a:t>
            </a:r>
          </a:p>
          <a:p>
            <a:pPr algn="ctr">
              <a:lnSpc>
                <a:spcPts val="5936"/>
              </a:lnSpc>
            </a:pPr>
            <a:r>
              <a:rPr lang="en-US" sz="6249" spc="-231">
                <a:solidFill>
                  <a:srgbClr val="162F65"/>
                </a:solidFill>
                <a:latin typeface="League Spartan"/>
                <a:ea typeface="League Spartan"/>
                <a:cs typeface="League Spartan"/>
                <a:sym typeface="League Spartan"/>
              </a:rPr>
              <a:t>ผลลัพธ์แรก กับ</a:t>
            </a:r>
            <a:r>
              <a:rPr lang="en-US" sz="6249" spc="-231">
                <a:solidFill>
                  <a:srgbClr val="162F65"/>
                </a:solidFill>
                <a:latin typeface="League Spartan"/>
                <a:ea typeface="League Spartan"/>
                <a:cs typeface="League Spartan"/>
                <a:sym typeface="League Spartan"/>
              </a:rPr>
              <a:t> ผลลัพธ์ใหม่ </a:t>
            </a:r>
          </a:p>
        </p:txBody>
      </p:sp>
      <p:sp>
        <p:nvSpPr>
          <p:cNvPr name="TextBox 5" id="5"/>
          <p:cNvSpPr txBox="true"/>
          <p:nvPr/>
        </p:nvSpPr>
        <p:spPr>
          <a:xfrm rot="0">
            <a:off x="9182791" y="7900481"/>
            <a:ext cx="8447844" cy="114795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051"/>
              </a:lnSpc>
              <a:spcBef>
                <a:spcPct val="0"/>
              </a:spcBef>
            </a:pPr>
            <a:r>
              <a:rPr lang="en-US" b="true" sz="2700">
                <a:solidFill>
                  <a:srgbClr val="162F65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ข้อมูลถูกจัดระเบียบให้เข้าใจง่ายขึ้นทันที เหมาะสำหรับการนำไปสร้างตารางเปรียบเทียบหรือกราฟิกแบบ Split-Screen บนสไลด์</a:t>
            </a:r>
          </a:p>
        </p:txBody>
      </p:sp>
      <p:sp>
        <p:nvSpPr>
          <p:cNvPr name="Freeform 6" id="6"/>
          <p:cNvSpPr/>
          <p:nvPr/>
        </p:nvSpPr>
        <p:spPr>
          <a:xfrm flipH="false" flipV="false" rot="0">
            <a:off x="816906" y="3670044"/>
            <a:ext cx="7890079" cy="3451909"/>
          </a:xfrm>
          <a:custGeom>
            <a:avLst/>
            <a:gdLst/>
            <a:ahLst/>
            <a:cxnLst/>
            <a:rect r="r" b="b" t="t" l="l"/>
            <a:pathLst>
              <a:path h="3451909" w="7890079">
                <a:moveTo>
                  <a:pt x="0" y="0"/>
                </a:moveTo>
                <a:lnTo>
                  <a:pt x="7890079" y="0"/>
                </a:lnTo>
                <a:lnTo>
                  <a:pt x="7890079" y="3451909"/>
                </a:lnTo>
                <a:lnTo>
                  <a:pt x="0" y="3451909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  <p:sp>
        <p:nvSpPr>
          <p:cNvPr name="Freeform 7" id="7"/>
          <p:cNvSpPr/>
          <p:nvPr/>
        </p:nvSpPr>
        <p:spPr>
          <a:xfrm flipH="false" flipV="false" rot="0">
            <a:off x="9314469" y="3670044"/>
            <a:ext cx="8184487" cy="3590944"/>
          </a:xfrm>
          <a:custGeom>
            <a:avLst/>
            <a:gdLst/>
            <a:ahLst/>
            <a:cxnLst/>
            <a:rect r="r" b="b" t="t" l="l"/>
            <a:pathLst>
              <a:path h="3590944" w="8184487">
                <a:moveTo>
                  <a:pt x="0" y="0"/>
                </a:moveTo>
                <a:lnTo>
                  <a:pt x="8184488" y="0"/>
                </a:lnTo>
                <a:lnTo>
                  <a:pt x="8184488" y="3590943"/>
                </a:lnTo>
                <a:lnTo>
                  <a:pt x="0" y="3590943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32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-6818" t="0" r="-6818" b="0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1028700" y="3455991"/>
            <a:ext cx="16230600" cy="312736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2625"/>
              </a:lnSpc>
            </a:pPr>
            <a:r>
              <a:rPr lang="en-US" sz="8416" spc="-311">
                <a:solidFill>
                  <a:srgbClr val="162F65"/>
                </a:solidFill>
                <a:latin typeface="League Spartan"/>
                <a:ea typeface="League Spartan"/>
                <a:cs typeface="League Spartan"/>
                <a:sym typeface="League Spartan"/>
              </a:rPr>
              <a:t>การเขียน Website เพื่อไปฝากบน</a:t>
            </a:r>
            <a:r>
              <a:rPr lang="en-US" sz="8416" spc="-311">
                <a:solidFill>
                  <a:srgbClr val="162F65"/>
                </a:solidFill>
                <a:latin typeface="League Spartan"/>
                <a:ea typeface="League Spartan"/>
                <a:cs typeface="League Spartan"/>
                <a:sym typeface="League Spartan"/>
              </a:rPr>
              <a:t> GitHub Pages</a:t>
            </a:r>
          </a:p>
        </p:txBody>
      </p:sp>
    </p:spTree>
  </p:cSld>
  <p:clrMapOvr>
    <a:masterClrMapping/>
  </p:clrMapOvr>
</p:sld>
</file>

<file path=ppt/slides/slide33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-6818" t="0" r="-6818" b="0"/>
            </a:stretch>
          </a:blipFill>
        </p:spPr>
      </p:sp>
      <p:sp>
        <p:nvSpPr>
          <p:cNvPr name="Freeform 3" id="3"/>
          <p:cNvSpPr/>
          <p:nvPr/>
        </p:nvSpPr>
        <p:spPr>
          <a:xfrm flipH="false" flipV="false" rot="0">
            <a:off x="5747393" y="3152658"/>
            <a:ext cx="6793214" cy="6105642"/>
          </a:xfrm>
          <a:custGeom>
            <a:avLst/>
            <a:gdLst/>
            <a:ahLst/>
            <a:cxnLst/>
            <a:rect r="r" b="b" t="t" l="l"/>
            <a:pathLst>
              <a:path h="6105642" w="6793214">
                <a:moveTo>
                  <a:pt x="0" y="0"/>
                </a:moveTo>
                <a:lnTo>
                  <a:pt x="6793214" y="0"/>
                </a:lnTo>
                <a:lnTo>
                  <a:pt x="6793214" y="6105642"/>
                </a:lnTo>
                <a:lnTo>
                  <a:pt x="0" y="6105642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  <p:sp>
        <p:nvSpPr>
          <p:cNvPr name="TextBox 4" id="4"/>
          <p:cNvSpPr txBox="true"/>
          <p:nvPr/>
        </p:nvSpPr>
        <p:spPr>
          <a:xfrm rot="0">
            <a:off x="3275774" y="1272479"/>
            <a:ext cx="12134722" cy="80699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5936"/>
              </a:lnSpc>
            </a:pPr>
            <a:r>
              <a:rPr lang="en-US" sz="6249" spc="-231">
                <a:solidFill>
                  <a:srgbClr val="162F65"/>
                </a:solidFill>
                <a:latin typeface="League Spartan"/>
                <a:ea typeface="League Spartan"/>
                <a:cs typeface="League Spartan"/>
                <a:sym typeface="League Spartan"/>
              </a:rPr>
              <a:t>Prompt แรก (Zero-shot Prompt)</a:t>
            </a:r>
          </a:p>
        </p:txBody>
      </p:sp>
    </p:spTree>
  </p:cSld>
  <p:clrMapOvr>
    <a:masterClrMapping/>
  </p:clrMapOvr>
</p:sld>
</file>

<file path=ppt/slides/slide34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-6818" t="0" r="-6818" b="0"/>
            </a:stretch>
          </a:blipFill>
        </p:spPr>
      </p:sp>
      <p:sp>
        <p:nvSpPr>
          <p:cNvPr name="Freeform 3" id="3"/>
          <p:cNvSpPr/>
          <p:nvPr/>
        </p:nvSpPr>
        <p:spPr>
          <a:xfrm flipH="false" flipV="false" rot="0">
            <a:off x="2601885" y="2622735"/>
            <a:ext cx="13084230" cy="6443983"/>
          </a:xfrm>
          <a:custGeom>
            <a:avLst/>
            <a:gdLst/>
            <a:ahLst/>
            <a:cxnLst/>
            <a:rect r="r" b="b" t="t" l="l"/>
            <a:pathLst>
              <a:path h="6443983" w="13084230">
                <a:moveTo>
                  <a:pt x="0" y="0"/>
                </a:moveTo>
                <a:lnTo>
                  <a:pt x="13084230" y="0"/>
                </a:lnTo>
                <a:lnTo>
                  <a:pt x="13084230" y="6443984"/>
                </a:lnTo>
                <a:lnTo>
                  <a:pt x="0" y="644398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  <p:sp>
        <p:nvSpPr>
          <p:cNvPr name="TextBox 4" id="4"/>
          <p:cNvSpPr txBox="true"/>
          <p:nvPr/>
        </p:nvSpPr>
        <p:spPr>
          <a:xfrm rot="0">
            <a:off x="1501734" y="1171575"/>
            <a:ext cx="15284532" cy="80699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5936"/>
              </a:lnSpc>
            </a:pPr>
            <a:r>
              <a:rPr lang="en-US" sz="6249" spc="-231">
                <a:solidFill>
                  <a:srgbClr val="162F65"/>
                </a:solidFill>
                <a:latin typeface="League Spartan"/>
                <a:ea typeface="League Spartan"/>
                <a:cs typeface="League Spartan"/>
                <a:sym typeface="League Spartan"/>
              </a:rPr>
              <a:t>ผลลัพธ์ของ </a:t>
            </a:r>
            <a:r>
              <a:rPr lang="en-US" sz="6249" spc="-231">
                <a:solidFill>
                  <a:srgbClr val="162F65"/>
                </a:solidFill>
                <a:latin typeface="League Spartan"/>
                <a:ea typeface="League Spartan"/>
                <a:cs typeface="League Spartan"/>
                <a:sym typeface="League Spartan"/>
              </a:rPr>
              <a:t>Prompt แรก (Zero-shot Result)</a:t>
            </a:r>
          </a:p>
        </p:txBody>
      </p:sp>
    </p:spTree>
  </p:cSld>
  <p:clrMapOvr>
    <a:masterClrMapping/>
  </p:clrMapOvr>
</p:sld>
</file>

<file path=ppt/slides/slide35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-6818" t="0" r="-6818" b="0"/>
            </a:stretch>
          </a:blipFill>
        </p:spPr>
      </p:sp>
      <p:sp>
        <p:nvSpPr>
          <p:cNvPr name="Freeform 3" id="3"/>
          <p:cNvSpPr/>
          <p:nvPr/>
        </p:nvSpPr>
        <p:spPr>
          <a:xfrm flipH="false" flipV="false" rot="0">
            <a:off x="1028700" y="3940911"/>
            <a:ext cx="7782994" cy="5317389"/>
          </a:xfrm>
          <a:custGeom>
            <a:avLst/>
            <a:gdLst/>
            <a:ahLst/>
            <a:cxnLst/>
            <a:rect r="r" b="b" t="t" l="l"/>
            <a:pathLst>
              <a:path h="5317389" w="7782994">
                <a:moveTo>
                  <a:pt x="0" y="0"/>
                </a:moveTo>
                <a:lnTo>
                  <a:pt x="7782994" y="0"/>
                </a:lnTo>
                <a:lnTo>
                  <a:pt x="7782994" y="5317389"/>
                </a:lnTo>
                <a:lnTo>
                  <a:pt x="0" y="5317389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  <p:sp>
        <p:nvSpPr>
          <p:cNvPr name="Freeform 4" id="4"/>
          <p:cNvSpPr/>
          <p:nvPr/>
        </p:nvSpPr>
        <p:spPr>
          <a:xfrm flipH="false" flipV="false" rot="0">
            <a:off x="9144000" y="4873727"/>
            <a:ext cx="8368592" cy="3451757"/>
          </a:xfrm>
          <a:custGeom>
            <a:avLst/>
            <a:gdLst/>
            <a:ahLst/>
            <a:cxnLst/>
            <a:rect r="r" b="b" t="t" l="l"/>
            <a:pathLst>
              <a:path h="3451757" w="8368592">
                <a:moveTo>
                  <a:pt x="0" y="0"/>
                </a:moveTo>
                <a:lnTo>
                  <a:pt x="8368592" y="0"/>
                </a:lnTo>
                <a:lnTo>
                  <a:pt x="8368592" y="3451757"/>
                </a:lnTo>
                <a:lnTo>
                  <a:pt x="0" y="3451757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 l="0" t="0" r="0" b="0"/>
            </a:stretch>
          </a:blipFill>
        </p:spPr>
      </p:sp>
      <p:sp>
        <p:nvSpPr>
          <p:cNvPr name="TextBox 5" id="5"/>
          <p:cNvSpPr txBox="true"/>
          <p:nvPr/>
        </p:nvSpPr>
        <p:spPr>
          <a:xfrm rot="0">
            <a:off x="3396250" y="847725"/>
            <a:ext cx="11495500" cy="23050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9374"/>
              </a:lnSpc>
            </a:pPr>
            <a:r>
              <a:rPr lang="en-US" sz="6249" spc="-231">
                <a:solidFill>
                  <a:srgbClr val="162F65"/>
                </a:solidFill>
                <a:latin typeface="League Spartan"/>
                <a:ea typeface="League Spartan"/>
                <a:cs typeface="League Spartan"/>
                <a:sym typeface="League Spartan"/>
              </a:rPr>
              <a:t>การถาม-ตอบ / ปรับแต่ง </a:t>
            </a:r>
            <a:r>
              <a:rPr lang="en-US" sz="6249" spc="-231">
                <a:solidFill>
                  <a:srgbClr val="162F65"/>
                </a:solidFill>
                <a:latin typeface="League Spartan"/>
                <a:ea typeface="League Spartan"/>
                <a:cs typeface="League Spartan"/>
                <a:sym typeface="League Spartan"/>
              </a:rPr>
              <a:t>Prompt </a:t>
            </a:r>
          </a:p>
          <a:p>
            <a:pPr algn="ctr">
              <a:lnSpc>
                <a:spcPts val="9374"/>
              </a:lnSpc>
            </a:pPr>
            <a:r>
              <a:rPr lang="en-US" sz="6249" spc="-231">
                <a:solidFill>
                  <a:srgbClr val="162F65"/>
                </a:solidFill>
                <a:latin typeface="League Spartan"/>
                <a:ea typeface="League Spartan"/>
                <a:cs typeface="League Spartan"/>
                <a:sym typeface="League Spartan"/>
              </a:rPr>
              <a:t>(Few-shot &amp; Context Prompt)</a:t>
            </a:r>
          </a:p>
        </p:txBody>
      </p:sp>
    </p:spTree>
  </p:cSld>
  <p:clrMapOvr>
    <a:masterClrMapping/>
  </p:clrMapOvr>
</p:sld>
</file>

<file path=ppt/slides/slide36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-6818" t="0" r="-6818" b="0"/>
            </a:stretch>
          </a:blipFill>
        </p:spPr>
      </p:sp>
      <p:sp>
        <p:nvSpPr>
          <p:cNvPr name="Freeform 3" id="3"/>
          <p:cNvSpPr/>
          <p:nvPr/>
        </p:nvSpPr>
        <p:spPr>
          <a:xfrm flipH="false" flipV="false" rot="0">
            <a:off x="7357747" y="2708917"/>
            <a:ext cx="10176577" cy="6063268"/>
          </a:xfrm>
          <a:custGeom>
            <a:avLst/>
            <a:gdLst/>
            <a:ahLst/>
            <a:cxnLst/>
            <a:rect r="r" b="b" t="t" l="l"/>
            <a:pathLst>
              <a:path h="6063268" w="10176577">
                <a:moveTo>
                  <a:pt x="0" y="0"/>
                </a:moveTo>
                <a:lnTo>
                  <a:pt x="10176577" y="0"/>
                </a:lnTo>
                <a:lnTo>
                  <a:pt x="10176577" y="6063268"/>
                </a:lnTo>
                <a:lnTo>
                  <a:pt x="0" y="6063268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  <p:sp>
        <p:nvSpPr>
          <p:cNvPr name="Freeform 4" id="4"/>
          <p:cNvSpPr/>
          <p:nvPr/>
        </p:nvSpPr>
        <p:spPr>
          <a:xfrm flipH="false" flipV="false" rot="0">
            <a:off x="1028700" y="2646762"/>
            <a:ext cx="5986568" cy="6187577"/>
          </a:xfrm>
          <a:custGeom>
            <a:avLst/>
            <a:gdLst/>
            <a:ahLst/>
            <a:cxnLst/>
            <a:rect r="r" b="b" t="t" l="l"/>
            <a:pathLst>
              <a:path h="6187577" w="5986568">
                <a:moveTo>
                  <a:pt x="0" y="0"/>
                </a:moveTo>
                <a:lnTo>
                  <a:pt x="5986568" y="0"/>
                </a:lnTo>
                <a:lnTo>
                  <a:pt x="5986568" y="6187577"/>
                </a:lnTo>
                <a:lnTo>
                  <a:pt x="0" y="6187577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 l="0" t="0" r="0" b="0"/>
            </a:stretch>
          </a:blipFill>
        </p:spPr>
      </p:sp>
      <p:sp>
        <p:nvSpPr>
          <p:cNvPr name="TextBox 5" id="5"/>
          <p:cNvSpPr txBox="true"/>
          <p:nvPr/>
        </p:nvSpPr>
        <p:spPr>
          <a:xfrm rot="0">
            <a:off x="1028700" y="1171575"/>
            <a:ext cx="16230600" cy="80801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6"/>
              </a:lnSpc>
            </a:pPr>
            <a:r>
              <a:rPr lang="en-US" sz="6249" spc="-231">
                <a:solidFill>
                  <a:srgbClr val="162F65"/>
                </a:solidFill>
                <a:latin typeface="League Spartan"/>
                <a:ea typeface="League Spartan"/>
                <a:cs typeface="League Spartan"/>
                <a:sym typeface="League Spartan"/>
              </a:rPr>
              <a:t>ผลลัพธ์ ของ P</a:t>
            </a:r>
            <a:r>
              <a:rPr lang="en-US" sz="6249" spc="-231">
                <a:solidFill>
                  <a:srgbClr val="162F65"/>
                </a:solidFill>
                <a:latin typeface="League Spartan"/>
                <a:ea typeface="League Spartan"/>
                <a:cs typeface="League Spartan"/>
                <a:sym typeface="League Spartan"/>
              </a:rPr>
              <a:t>rompt ใหม่</a:t>
            </a:r>
          </a:p>
        </p:txBody>
      </p:sp>
    </p:spTree>
  </p:cSld>
  <p:clrMapOvr>
    <a:masterClrMapping/>
  </p:clrMapOvr>
</p:sld>
</file>

<file path=ppt/slides/slide37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-6818" t="0" r="-6818" b="0"/>
            </a:stretch>
          </a:blipFill>
        </p:spPr>
      </p:sp>
      <p:sp>
        <p:nvSpPr>
          <p:cNvPr name="Freeform 3" id="3"/>
          <p:cNvSpPr/>
          <p:nvPr/>
        </p:nvSpPr>
        <p:spPr>
          <a:xfrm flipH="false" flipV="false" rot="0">
            <a:off x="943121" y="3445865"/>
            <a:ext cx="7919323" cy="3900267"/>
          </a:xfrm>
          <a:custGeom>
            <a:avLst/>
            <a:gdLst/>
            <a:ahLst/>
            <a:cxnLst/>
            <a:rect r="r" b="b" t="t" l="l"/>
            <a:pathLst>
              <a:path h="3900267" w="7919323">
                <a:moveTo>
                  <a:pt x="0" y="0"/>
                </a:moveTo>
                <a:lnTo>
                  <a:pt x="7919323" y="0"/>
                </a:lnTo>
                <a:lnTo>
                  <a:pt x="7919323" y="3900267"/>
                </a:lnTo>
                <a:lnTo>
                  <a:pt x="0" y="3900267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  <p:sp>
        <p:nvSpPr>
          <p:cNvPr name="Freeform 4" id="4"/>
          <p:cNvSpPr/>
          <p:nvPr/>
        </p:nvSpPr>
        <p:spPr>
          <a:xfrm flipH="false" flipV="false" rot="0">
            <a:off x="10034840" y="3308561"/>
            <a:ext cx="7007102" cy="4174875"/>
          </a:xfrm>
          <a:custGeom>
            <a:avLst/>
            <a:gdLst/>
            <a:ahLst/>
            <a:cxnLst/>
            <a:rect r="r" b="b" t="t" l="l"/>
            <a:pathLst>
              <a:path h="4174875" w="7007102">
                <a:moveTo>
                  <a:pt x="0" y="0"/>
                </a:moveTo>
                <a:lnTo>
                  <a:pt x="7007102" y="0"/>
                </a:lnTo>
                <a:lnTo>
                  <a:pt x="7007102" y="4174875"/>
                </a:lnTo>
                <a:lnTo>
                  <a:pt x="0" y="4174875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 l="0" t="0" r="0" b="0"/>
            </a:stretch>
          </a:blipFill>
        </p:spPr>
      </p:sp>
      <p:sp>
        <p:nvSpPr>
          <p:cNvPr name="TextBox 5" id="5"/>
          <p:cNvSpPr txBox="true"/>
          <p:nvPr/>
        </p:nvSpPr>
        <p:spPr>
          <a:xfrm rot="0">
            <a:off x="816906" y="8078980"/>
            <a:ext cx="8171752" cy="152895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050"/>
              </a:lnSpc>
              <a:spcBef>
                <a:spcPct val="0"/>
              </a:spcBef>
            </a:pPr>
            <a:r>
              <a:rPr lang="en-US" b="true" sz="2699">
                <a:solidFill>
                  <a:srgbClr val="162F65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มีการใช้ขนาดตัวอักษรเนื้อหา (Body Text) ที่ค่อนข้างใหญ่เกินไปเมื่อเทียบกับส่วนหัวข้อ (Heading) ทำให้พื้นที่หน้าจอมีความหนาแน่นของข้อความสูง ดูแออัด และลดทอนความเด่นของภาพประกอบสินค้า</a:t>
            </a:r>
          </a:p>
        </p:txBody>
      </p:sp>
      <p:sp>
        <p:nvSpPr>
          <p:cNvPr name="TextBox 6" id="6"/>
          <p:cNvSpPr txBox="true"/>
          <p:nvPr/>
        </p:nvSpPr>
        <p:spPr>
          <a:xfrm rot="0">
            <a:off x="1028700" y="1171575"/>
            <a:ext cx="16230600" cy="156049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6"/>
              </a:lnSpc>
            </a:pPr>
            <a:r>
              <a:rPr lang="en-US" sz="6249" spc="-231">
                <a:solidFill>
                  <a:srgbClr val="162F65"/>
                </a:solidFill>
                <a:latin typeface="League Spartan"/>
                <a:ea typeface="League Spartan"/>
                <a:cs typeface="League Spartan"/>
                <a:sym typeface="League Spartan"/>
              </a:rPr>
              <a:t>สะท้อนการเรียนรู้ของการได้มาของ </a:t>
            </a:r>
          </a:p>
          <a:p>
            <a:pPr algn="ctr">
              <a:lnSpc>
                <a:spcPts val="5936"/>
              </a:lnSpc>
            </a:pPr>
            <a:r>
              <a:rPr lang="en-US" sz="6249" spc="-231">
                <a:solidFill>
                  <a:srgbClr val="162F65"/>
                </a:solidFill>
                <a:latin typeface="League Spartan"/>
                <a:ea typeface="League Spartan"/>
                <a:cs typeface="League Spartan"/>
                <a:sym typeface="League Spartan"/>
              </a:rPr>
              <a:t>ผลลัพธ์แรก กับ</a:t>
            </a:r>
            <a:r>
              <a:rPr lang="en-US" sz="6249" spc="-231">
                <a:solidFill>
                  <a:srgbClr val="162F65"/>
                </a:solidFill>
                <a:latin typeface="League Spartan"/>
                <a:ea typeface="League Spartan"/>
                <a:cs typeface="League Spartan"/>
                <a:sym typeface="League Spartan"/>
              </a:rPr>
              <a:t> ผลลัพธ์ใหม่ </a:t>
            </a:r>
          </a:p>
        </p:txBody>
      </p:sp>
      <p:sp>
        <p:nvSpPr>
          <p:cNvPr name="TextBox 7" id="7"/>
          <p:cNvSpPr txBox="true"/>
          <p:nvPr/>
        </p:nvSpPr>
        <p:spPr>
          <a:xfrm rot="0">
            <a:off x="9314469" y="8055561"/>
            <a:ext cx="8447844" cy="152895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051"/>
              </a:lnSpc>
              <a:spcBef>
                <a:spcPct val="0"/>
              </a:spcBef>
            </a:pPr>
            <a:r>
              <a:rPr lang="en-US" b="true" sz="2700">
                <a:solidFill>
                  <a:srgbClr val="162F65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รับลดขนาดข้อความอธิ</a:t>
            </a:r>
            <a:r>
              <a:rPr lang="en-US" b="true" sz="2700">
                <a:solidFill>
                  <a:srgbClr val="162F65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บายให้กระชับและสมดุลกับพื้นที่ (Whit</a:t>
            </a:r>
            <a:r>
              <a:rPr lang="en-US" b="true" sz="2700">
                <a:solidFill>
                  <a:srgbClr val="162F65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espace) ทำให้หน้าเว็บดูโปร่ง สะอาดตา (Clean design) ช่วยดึงสายตาของผู้ใช้งานไปยังตัวสินค้าและหัวข้อหลักได้ดีขึ้น</a:t>
            </a:r>
          </a:p>
        </p:txBody>
      </p:sp>
    </p:spTree>
  </p:cSld>
  <p:clrMapOvr>
    <a:masterClrMapping/>
  </p:clrMapOvr>
</p:sld>
</file>

<file path=ppt/slides/slide38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-6818" t="0" r="-6818" b="0"/>
            </a:stretch>
          </a:blipFill>
        </p:spPr>
      </p:sp>
      <p:sp>
        <p:nvSpPr>
          <p:cNvPr name="Freeform 3" id="3"/>
          <p:cNvSpPr/>
          <p:nvPr/>
        </p:nvSpPr>
        <p:spPr>
          <a:xfrm flipH="false" flipV="false" rot="0">
            <a:off x="3606371" y="2710271"/>
            <a:ext cx="11075257" cy="5506025"/>
          </a:xfrm>
          <a:custGeom>
            <a:avLst/>
            <a:gdLst/>
            <a:ahLst/>
            <a:cxnLst/>
            <a:rect r="r" b="b" t="t" l="l"/>
            <a:pathLst>
              <a:path h="5506025" w="11075257">
                <a:moveTo>
                  <a:pt x="0" y="0"/>
                </a:moveTo>
                <a:lnTo>
                  <a:pt x="11075258" y="0"/>
                </a:lnTo>
                <a:lnTo>
                  <a:pt x="11075258" y="5506025"/>
                </a:lnTo>
                <a:lnTo>
                  <a:pt x="0" y="5506025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  <p:sp>
        <p:nvSpPr>
          <p:cNvPr name="TextBox 4" id="4"/>
          <p:cNvSpPr txBox="true"/>
          <p:nvPr/>
        </p:nvSpPr>
        <p:spPr>
          <a:xfrm rot="0">
            <a:off x="3034543" y="1162050"/>
            <a:ext cx="12218913" cy="6985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5225"/>
              </a:lnSpc>
            </a:pPr>
            <a:r>
              <a:rPr lang="en-US" sz="5500" spc="-203">
                <a:solidFill>
                  <a:srgbClr val="162F65"/>
                </a:solidFill>
                <a:latin typeface="League Spartan"/>
                <a:ea typeface="League Spartan"/>
                <a:cs typeface="League Spartan"/>
                <a:sym typeface="League Spartan"/>
              </a:rPr>
              <a:t>GitHub Live Website Demonstration</a:t>
            </a:r>
          </a:p>
        </p:txBody>
      </p:sp>
      <p:sp>
        <p:nvSpPr>
          <p:cNvPr name="TextBox 5" id="5"/>
          <p:cNvSpPr txBox="true"/>
          <p:nvPr/>
        </p:nvSpPr>
        <p:spPr>
          <a:xfrm rot="0">
            <a:off x="5312460" y="9085066"/>
            <a:ext cx="7663080" cy="36551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874"/>
              </a:lnSpc>
              <a:spcBef>
                <a:spcPct val="0"/>
              </a:spcBef>
            </a:pPr>
            <a:r>
              <a:rPr lang="en-US" b="true" sz="2544" u="sng">
                <a:solidFill>
                  <a:srgbClr val="162F65"/>
                </a:solidFill>
                <a:latin typeface="Montserrat Medium"/>
                <a:ea typeface="Montserrat Medium"/>
                <a:cs typeface="Montserrat Medium"/>
                <a:sym typeface="Montserrat Medium"/>
                <a:hlinkClick r:id="rId4" tooltip="https://hiroyoisan.github.io/wireless_earbuds/"/>
              </a:rPr>
              <a:t>https://hiroyoisan.github.io/wireless_earbuds/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Company/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terms:created xsi:type="dcterms:W3CDTF">2006-08-16T00:00:00Z</dcterms:created>
  <dc:identifier>DAHUnvnRLvw</dc:identifier>
  <dcterms:modified xsi:type="dcterms:W3CDTF">2011-08-01T06:04:30Z</dcterms:modified>
  <cp:revision>1</cp:revision>
  <dc:title>Blue White and Black Modern Tech Product Launch Presentation</dc:title>
</cp:coreProperties>
</file>