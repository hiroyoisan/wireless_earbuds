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League Spartan" charset="1" panose="00000800000000000000"/>
      <p:regular r:id="rId43"/>
    </p:embeddedFont>
    <p:embeddedFont>
      <p:font typeface="Montserrat Medium" charset="1" panose="000006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5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9.png" Type="http://schemas.openxmlformats.org/officeDocument/2006/relationships/image"/><Relationship Id="rId4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715250"/>
            <a:ext cx="18288000" cy="3627882"/>
            <a:chOff x="0" y="0"/>
            <a:chExt cx="4816593" cy="9554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955492"/>
            </a:xfrm>
            <a:custGeom>
              <a:avLst/>
              <a:gdLst/>
              <a:ahLst/>
              <a:cxnLst/>
              <a:rect r="r" b="b" t="t" l="l"/>
              <a:pathLst>
                <a:path h="955492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913158"/>
                  </a:lnTo>
                  <a:cubicBezTo>
                    <a:pt x="4816592" y="924386"/>
                    <a:pt x="4812132" y="935153"/>
                    <a:pt x="4804193" y="943092"/>
                  </a:cubicBezTo>
                  <a:cubicBezTo>
                    <a:pt x="4796254" y="951031"/>
                    <a:pt x="4785487" y="955492"/>
                    <a:pt x="4774259" y="955492"/>
                  </a:cubicBezTo>
                  <a:lnTo>
                    <a:pt x="42333" y="955492"/>
                  </a:lnTo>
                  <a:cubicBezTo>
                    <a:pt x="31106" y="955492"/>
                    <a:pt x="20338" y="951031"/>
                    <a:pt x="12399" y="943092"/>
                  </a:cubicBezTo>
                  <a:cubicBezTo>
                    <a:pt x="4460" y="935153"/>
                    <a:pt x="0" y="924386"/>
                    <a:pt x="0" y="9131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62F6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4816593" cy="945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55319" y="1028700"/>
            <a:ext cx="6624828" cy="8229600"/>
          </a:xfrm>
          <a:custGeom>
            <a:avLst/>
            <a:gdLst/>
            <a:ahLst/>
            <a:cxnLst/>
            <a:rect r="r" b="b" t="t" l="l"/>
            <a:pathLst>
              <a:path h="8229600" w="6624828">
                <a:moveTo>
                  <a:pt x="0" y="0"/>
                </a:moveTo>
                <a:lnTo>
                  <a:pt x="6624828" y="0"/>
                </a:lnTo>
                <a:lnTo>
                  <a:pt x="66248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894472"/>
            <a:ext cx="7299687" cy="32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01"/>
              </a:lnSpc>
            </a:pPr>
            <a:r>
              <a:rPr lang="en-US" sz="13054" spc="-482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</a:t>
            </a:r>
            <a:r>
              <a:rPr lang="en-US" sz="13054" spc="-482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reless Earbuds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62550"/>
            <a:ext cx="4373628" cy="72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  <a:spcBef>
                <a:spcPct val="0"/>
              </a:spcBef>
            </a:pPr>
            <a:r>
              <a:rPr lang="en-US" b="true" sz="2544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</a:t>
            </a:r>
            <a:r>
              <a:rPr lang="en-US" b="true" sz="2544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urning Innovation Into Everyday Value.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609203"/>
            <a:ext cx="7596884" cy="64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sz="2299" b="true">
                <a:solidFill>
                  <a:srgbClr val="F5FC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Mr.Hironobu Chaikasem 2610717302048</a:t>
            </a:r>
          </a:p>
          <a:p>
            <a:pPr algn="l">
              <a:lnSpc>
                <a:spcPts val="2598"/>
              </a:lnSpc>
              <a:spcBef>
                <a:spcPct val="0"/>
              </a:spcBef>
            </a:pPr>
            <a:r>
              <a:rPr lang="en-US" b="true" sz="2299">
                <a:solidFill>
                  <a:srgbClr val="F5FC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Computer Engineering and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5991"/>
            <a:ext cx="16230600" cy="312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การสร้างรูปด้วย</a:t>
            </a: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AI </a:t>
            </a:r>
          </a:p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(AI Image Generation)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24686" y="2925140"/>
            <a:ext cx="9236899" cy="5949531"/>
          </a:xfrm>
          <a:custGeom>
            <a:avLst/>
            <a:gdLst/>
            <a:ahLst/>
            <a:cxnLst/>
            <a:rect r="r" b="b" t="t" l="l"/>
            <a:pathLst>
              <a:path h="5949531" w="9236899">
                <a:moveTo>
                  <a:pt x="0" y="0"/>
                </a:moveTo>
                <a:lnTo>
                  <a:pt x="9236899" y="0"/>
                </a:lnTo>
                <a:lnTo>
                  <a:pt x="9236899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5774" y="1272479"/>
            <a:ext cx="1213472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Prompt)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180245"/>
            <a:ext cx="4715410" cy="4715410"/>
          </a:xfrm>
          <a:custGeom>
            <a:avLst/>
            <a:gdLst/>
            <a:ahLst/>
            <a:cxnLst/>
            <a:rect r="r" b="b" t="t" l="l"/>
            <a:pathLst>
              <a:path h="4715410" w="4715410">
                <a:moveTo>
                  <a:pt x="0" y="0"/>
                </a:moveTo>
                <a:lnTo>
                  <a:pt x="4715410" y="0"/>
                </a:lnTo>
                <a:lnTo>
                  <a:pt x="4715410" y="4715410"/>
                </a:lnTo>
                <a:lnTo>
                  <a:pt x="0" y="4715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15411" y="3180245"/>
            <a:ext cx="4715410" cy="4715410"/>
          </a:xfrm>
          <a:custGeom>
            <a:avLst/>
            <a:gdLst/>
            <a:ahLst/>
            <a:cxnLst/>
            <a:rect r="r" b="b" t="t" l="l"/>
            <a:pathLst>
              <a:path h="4715410" w="4715410">
                <a:moveTo>
                  <a:pt x="0" y="0"/>
                </a:moveTo>
                <a:lnTo>
                  <a:pt x="4715409" y="0"/>
                </a:lnTo>
                <a:lnTo>
                  <a:pt x="4715409" y="4715410"/>
                </a:lnTo>
                <a:lnTo>
                  <a:pt x="0" y="4715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02122" y="3180245"/>
            <a:ext cx="4657178" cy="4657178"/>
          </a:xfrm>
          <a:custGeom>
            <a:avLst/>
            <a:gdLst/>
            <a:ahLst/>
            <a:cxnLst/>
            <a:rect r="r" b="b" t="t" l="l"/>
            <a:pathLst>
              <a:path h="4657178" w="4657178">
                <a:moveTo>
                  <a:pt x="0" y="0"/>
                </a:moveTo>
                <a:lnTo>
                  <a:pt x="4657178" y="0"/>
                </a:lnTo>
                <a:lnTo>
                  <a:pt x="4657178" y="4657178"/>
                </a:lnTo>
                <a:lnTo>
                  <a:pt x="0" y="4657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1734" y="1171575"/>
            <a:ext cx="1528453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ผลลัพธ์ของ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Result)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37431" y="3168607"/>
            <a:ext cx="7413137" cy="6089693"/>
          </a:xfrm>
          <a:custGeom>
            <a:avLst/>
            <a:gdLst/>
            <a:ahLst/>
            <a:cxnLst/>
            <a:rect r="r" b="b" t="t" l="l"/>
            <a:pathLst>
              <a:path h="6089693" w="7413137">
                <a:moveTo>
                  <a:pt x="0" y="0"/>
                </a:moveTo>
                <a:lnTo>
                  <a:pt x="7413138" y="0"/>
                </a:lnTo>
                <a:lnTo>
                  <a:pt x="7413138" y="6089693"/>
                </a:lnTo>
                <a:lnTo>
                  <a:pt x="0" y="608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6250" y="847725"/>
            <a:ext cx="1149550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การถาม-ตอบ / ปรับแต่ง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</a:t>
            </a:r>
          </a:p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(Few-shot &amp; Context Prompt)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5507" y="3307715"/>
            <a:ext cx="4617077" cy="4617077"/>
          </a:xfrm>
          <a:custGeom>
            <a:avLst/>
            <a:gdLst/>
            <a:ahLst/>
            <a:cxnLst/>
            <a:rect r="r" b="b" t="t" l="l"/>
            <a:pathLst>
              <a:path h="4617077" w="4617077">
                <a:moveTo>
                  <a:pt x="0" y="0"/>
                </a:moveTo>
                <a:lnTo>
                  <a:pt x="4617076" y="0"/>
                </a:lnTo>
                <a:lnTo>
                  <a:pt x="4617076" y="4617077"/>
                </a:lnTo>
                <a:lnTo>
                  <a:pt x="0" y="4617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42134" y="3307715"/>
            <a:ext cx="4647333" cy="4647333"/>
          </a:xfrm>
          <a:custGeom>
            <a:avLst/>
            <a:gdLst/>
            <a:ahLst/>
            <a:cxnLst/>
            <a:rect r="r" b="b" t="t" l="l"/>
            <a:pathLst>
              <a:path h="4647333" w="4647333">
                <a:moveTo>
                  <a:pt x="0" y="0"/>
                </a:moveTo>
                <a:lnTo>
                  <a:pt x="4647334" y="0"/>
                </a:lnTo>
                <a:lnTo>
                  <a:pt x="4647334" y="4647333"/>
                </a:lnTo>
                <a:lnTo>
                  <a:pt x="0" y="4647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59019" y="3307715"/>
            <a:ext cx="4700281" cy="4700281"/>
          </a:xfrm>
          <a:custGeom>
            <a:avLst/>
            <a:gdLst/>
            <a:ahLst/>
            <a:cxnLst/>
            <a:rect r="r" b="b" t="t" l="l"/>
            <a:pathLst>
              <a:path h="4700281" w="4700281">
                <a:moveTo>
                  <a:pt x="0" y="0"/>
                </a:moveTo>
                <a:lnTo>
                  <a:pt x="4700281" y="0"/>
                </a:lnTo>
                <a:lnTo>
                  <a:pt x="4700281" y="4700282"/>
                </a:lnTo>
                <a:lnTo>
                  <a:pt x="0" y="4700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71575"/>
            <a:ext cx="16230600" cy="80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 ของ P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rompt ใหม่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36561"/>
            <a:ext cx="8126368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</a:t>
            </a: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ero-sh</a:t>
            </a: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ot ให้ภาพตรงตามคำศัพท์ แต่ไม่อบอุ่น/ดึงดูดไม่พอ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16230600" cy="156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สะท้อนการเรียนรู้ของการได้มาของ </a:t>
            </a:r>
          </a:p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ผลลัพธ์แรก กับ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ผลลัพธ์ใหม่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3134861"/>
            <a:ext cx="2393244" cy="2393244"/>
          </a:xfrm>
          <a:custGeom>
            <a:avLst/>
            <a:gdLst/>
            <a:ahLst/>
            <a:cxnLst/>
            <a:rect r="r" b="b" t="t" l="l"/>
            <a:pathLst>
              <a:path h="2393244" w="2393244">
                <a:moveTo>
                  <a:pt x="0" y="0"/>
                </a:moveTo>
                <a:lnTo>
                  <a:pt x="2393244" y="0"/>
                </a:lnTo>
                <a:lnTo>
                  <a:pt x="2393244" y="2393244"/>
                </a:lnTo>
                <a:lnTo>
                  <a:pt x="0" y="23932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04144" y="3134861"/>
            <a:ext cx="2393244" cy="2393244"/>
          </a:xfrm>
          <a:custGeom>
            <a:avLst/>
            <a:gdLst/>
            <a:ahLst/>
            <a:cxnLst/>
            <a:rect r="r" b="b" t="t" l="l"/>
            <a:pathLst>
              <a:path h="2393244" w="2393244">
                <a:moveTo>
                  <a:pt x="0" y="0"/>
                </a:moveTo>
                <a:lnTo>
                  <a:pt x="2393244" y="0"/>
                </a:lnTo>
                <a:lnTo>
                  <a:pt x="2393244" y="2393244"/>
                </a:lnTo>
                <a:lnTo>
                  <a:pt x="0" y="2393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73165" y="5391952"/>
            <a:ext cx="2490856" cy="2490856"/>
          </a:xfrm>
          <a:custGeom>
            <a:avLst/>
            <a:gdLst/>
            <a:ahLst/>
            <a:cxnLst/>
            <a:rect r="r" b="b" t="t" l="l"/>
            <a:pathLst>
              <a:path h="2490856" w="2490856">
                <a:moveTo>
                  <a:pt x="0" y="0"/>
                </a:moveTo>
                <a:lnTo>
                  <a:pt x="2490856" y="0"/>
                </a:lnTo>
                <a:lnTo>
                  <a:pt x="2490856" y="2490856"/>
                </a:lnTo>
                <a:lnTo>
                  <a:pt x="0" y="249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62416" y="8055561"/>
            <a:ext cx="7596884" cy="114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ให้ภาพหูฟังสีดำด้าน ลอยเหนือกล่องเคส มีแสงนีอ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อนสีฟ้า-ม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่วง มีมิติความชัดลึก (Bokeh) ดูเหมือนภาพโฆษณาระดับมืออาชีพ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13589" y="3227579"/>
            <a:ext cx="2645393" cy="2645393"/>
          </a:xfrm>
          <a:custGeom>
            <a:avLst/>
            <a:gdLst/>
            <a:ahLst/>
            <a:cxnLst/>
            <a:rect r="r" b="b" t="t" l="l"/>
            <a:pathLst>
              <a:path h="2645393" w="2645393">
                <a:moveTo>
                  <a:pt x="0" y="0"/>
                </a:moveTo>
                <a:lnTo>
                  <a:pt x="2645393" y="0"/>
                </a:lnTo>
                <a:lnTo>
                  <a:pt x="2645393" y="2645393"/>
                </a:lnTo>
                <a:lnTo>
                  <a:pt x="0" y="26453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13466" y="3227579"/>
            <a:ext cx="2534812" cy="2534812"/>
          </a:xfrm>
          <a:custGeom>
            <a:avLst/>
            <a:gdLst/>
            <a:ahLst/>
            <a:cxnLst/>
            <a:rect r="r" b="b" t="t" l="l"/>
            <a:pathLst>
              <a:path h="2534812" w="2534812">
                <a:moveTo>
                  <a:pt x="0" y="0"/>
                </a:moveTo>
                <a:lnTo>
                  <a:pt x="2534813" y="0"/>
                </a:lnTo>
                <a:lnTo>
                  <a:pt x="2534813" y="2534812"/>
                </a:lnTo>
                <a:lnTo>
                  <a:pt x="0" y="25348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24228" y="5528105"/>
            <a:ext cx="2354703" cy="2354703"/>
          </a:xfrm>
          <a:custGeom>
            <a:avLst/>
            <a:gdLst/>
            <a:ahLst/>
            <a:cxnLst/>
            <a:rect r="r" b="b" t="t" l="l"/>
            <a:pathLst>
              <a:path h="2354703" w="2354703">
                <a:moveTo>
                  <a:pt x="0" y="0"/>
                </a:moveTo>
                <a:lnTo>
                  <a:pt x="2354703" y="0"/>
                </a:lnTo>
                <a:lnTo>
                  <a:pt x="2354703" y="2354703"/>
                </a:lnTo>
                <a:lnTo>
                  <a:pt x="0" y="23547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5991"/>
            <a:ext cx="16230600" cy="312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การอธิบายความสัมพันธ์ทางคณิตศาสตร์</a:t>
            </a: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(Desmos Calculator)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27918" y="2409131"/>
            <a:ext cx="8230434" cy="6849169"/>
          </a:xfrm>
          <a:custGeom>
            <a:avLst/>
            <a:gdLst/>
            <a:ahLst/>
            <a:cxnLst/>
            <a:rect r="r" b="b" t="t" l="l"/>
            <a:pathLst>
              <a:path h="6849169" w="8230434">
                <a:moveTo>
                  <a:pt x="0" y="0"/>
                </a:moveTo>
                <a:lnTo>
                  <a:pt x="8230435" y="0"/>
                </a:lnTo>
                <a:lnTo>
                  <a:pt x="8230435" y="6849169"/>
                </a:lnTo>
                <a:lnTo>
                  <a:pt x="0" y="6849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5774" y="1272479"/>
            <a:ext cx="1213472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Prompt)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4219" y="3128113"/>
            <a:ext cx="15839563" cy="5355752"/>
          </a:xfrm>
          <a:custGeom>
            <a:avLst/>
            <a:gdLst/>
            <a:ahLst/>
            <a:cxnLst/>
            <a:rect r="r" b="b" t="t" l="l"/>
            <a:pathLst>
              <a:path h="5355752" w="15839563">
                <a:moveTo>
                  <a:pt x="0" y="0"/>
                </a:moveTo>
                <a:lnTo>
                  <a:pt x="15839562" y="0"/>
                </a:lnTo>
                <a:lnTo>
                  <a:pt x="15839562" y="5355752"/>
                </a:lnTo>
                <a:lnTo>
                  <a:pt x="0" y="5355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1734" y="1171575"/>
            <a:ext cx="1528453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ผลลัพธ์ของ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Result)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621122"/>
            <a:ext cx="7316322" cy="6191405"/>
          </a:xfrm>
          <a:custGeom>
            <a:avLst/>
            <a:gdLst/>
            <a:ahLst/>
            <a:cxnLst/>
            <a:rect r="r" b="b" t="t" l="l"/>
            <a:pathLst>
              <a:path h="6191405" w="7316322">
                <a:moveTo>
                  <a:pt x="0" y="0"/>
                </a:moveTo>
                <a:lnTo>
                  <a:pt x="7316322" y="0"/>
                </a:lnTo>
                <a:lnTo>
                  <a:pt x="7316322" y="6191404"/>
                </a:lnTo>
                <a:lnTo>
                  <a:pt x="0" y="6191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0372" y="3611602"/>
            <a:ext cx="7374902" cy="6210443"/>
          </a:xfrm>
          <a:custGeom>
            <a:avLst/>
            <a:gdLst/>
            <a:ahLst/>
            <a:cxnLst/>
            <a:rect r="r" b="b" t="t" l="l"/>
            <a:pathLst>
              <a:path h="6210443" w="7374902">
                <a:moveTo>
                  <a:pt x="0" y="0"/>
                </a:moveTo>
                <a:lnTo>
                  <a:pt x="7374901" y="0"/>
                </a:lnTo>
                <a:lnTo>
                  <a:pt x="7374901" y="6210444"/>
                </a:lnTo>
                <a:lnTo>
                  <a:pt x="0" y="621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96250" y="847725"/>
            <a:ext cx="1149550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การถาม-ตอบ / ปรับแต่ง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</a:t>
            </a:r>
          </a:p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(Few-shot &amp; Context Prompt)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0753" y="3186452"/>
            <a:ext cx="7817940" cy="5413876"/>
          </a:xfrm>
          <a:custGeom>
            <a:avLst/>
            <a:gdLst/>
            <a:ahLst/>
            <a:cxnLst/>
            <a:rect r="r" b="b" t="t" l="l"/>
            <a:pathLst>
              <a:path h="5413876" w="7817940">
                <a:moveTo>
                  <a:pt x="0" y="0"/>
                </a:moveTo>
                <a:lnTo>
                  <a:pt x="7817940" y="0"/>
                </a:lnTo>
                <a:lnTo>
                  <a:pt x="7817940" y="5413876"/>
                </a:lnTo>
                <a:lnTo>
                  <a:pt x="0" y="5413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32084" y="3132374"/>
            <a:ext cx="8627216" cy="5467954"/>
          </a:xfrm>
          <a:custGeom>
            <a:avLst/>
            <a:gdLst/>
            <a:ahLst/>
            <a:cxnLst/>
            <a:rect r="r" b="b" t="t" l="l"/>
            <a:pathLst>
              <a:path h="5467954" w="8627216">
                <a:moveTo>
                  <a:pt x="0" y="0"/>
                </a:moveTo>
                <a:lnTo>
                  <a:pt x="8627216" y="0"/>
                </a:lnTo>
                <a:lnTo>
                  <a:pt x="8627216" y="5467954"/>
                </a:lnTo>
                <a:lnTo>
                  <a:pt x="0" y="5467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1575"/>
            <a:ext cx="16230600" cy="80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 ของ P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rompt ใหม่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6906" y="3256424"/>
            <a:ext cx="7959959" cy="4279630"/>
          </a:xfrm>
          <a:custGeom>
            <a:avLst/>
            <a:gdLst/>
            <a:ahLst/>
            <a:cxnLst/>
            <a:rect r="r" b="b" t="t" l="l"/>
            <a:pathLst>
              <a:path h="4279630" w="7959959">
                <a:moveTo>
                  <a:pt x="0" y="0"/>
                </a:moveTo>
                <a:lnTo>
                  <a:pt x="7959959" y="0"/>
                </a:lnTo>
                <a:lnTo>
                  <a:pt x="7959959" y="4279631"/>
                </a:lnTo>
                <a:lnTo>
                  <a:pt x="0" y="4279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88659" y="3256424"/>
            <a:ext cx="8773654" cy="4279630"/>
          </a:xfrm>
          <a:custGeom>
            <a:avLst/>
            <a:gdLst/>
            <a:ahLst/>
            <a:cxnLst/>
            <a:rect r="r" b="b" t="t" l="l"/>
            <a:pathLst>
              <a:path h="4279630" w="8773654">
                <a:moveTo>
                  <a:pt x="0" y="0"/>
                </a:moveTo>
                <a:lnTo>
                  <a:pt x="8773654" y="0"/>
                </a:lnTo>
                <a:lnTo>
                  <a:pt x="8773654" y="4279631"/>
                </a:lnTo>
                <a:lnTo>
                  <a:pt x="0" y="4279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906" y="8078980"/>
            <a:ext cx="8171752" cy="152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ให้</a:t>
            </a: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สมการ y = \sin(x) หรือ y = e^{-x} แบบโดดๆ ซึ่งไม่ได้แสดงการหักลบของคลื่นเสียง</a:t>
            </a:r>
          </a:p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(Destructive Interference) หรือความถี่ของเสียงรบกวนอย่างชัดเจน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71575"/>
            <a:ext cx="16230600" cy="156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สะท้อนการเรียนรู้ของการได้มาของ </a:t>
            </a:r>
          </a:p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ผลลัพธ์แรก กับ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ผลลัพธ์ใหม่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14469" y="8055561"/>
            <a:ext cx="8447844" cy="114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ได้ชุดสมการพร้อม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แถบปรับค่า (Sli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der phi) เมื่อปรับ phi = 0 คลื่นผลลัพธ์ R(x) จะกลายเป็นเส้นตรง y=0 แสดงการหักลบกันสมบูรณ์แบบ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5991"/>
            <a:ext cx="16230600" cy="312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การสร้าง Diagrams จาก</a:t>
            </a: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Mermaid Code (Mermaid.ai)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00646" y="2780620"/>
            <a:ext cx="11684979" cy="6477680"/>
          </a:xfrm>
          <a:custGeom>
            <a:avLst/>
            <a:gdLst/>
            <a:ahLst/>
            <a:cxnLst/>
            <a:rect r="r" b="b" t="t" l="l"/>
            <a:pathLst>
              <a:path h="6477680" w="11684979">
                <a:moveTo>
                  <a:pt x="0" y="0"/>
                </a:moveTo>
                <a:lnTo>
                  <a:pt x="11684979" y="0"/>
                </a:lnTo>
                <a:lnTo>
                  <a:pt x="11684979" y="6477680"/>
                </a:lnTo>
                <a:lnTo>
                  <a:pt x="0" y="6477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5774" y="1272479"/>
            <a:ext cx="1213472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Prompt)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77463" y="2431741"/>
            <a:ext cx="11133074" cy="6826559"/>
          </a:xfrm>
          <a:custGeom>
            <a:avLst/>
            <a:gdLst/>
            <a:ahLst/>
            <a:cxnLst/>
            <a:rect r="r" b="b" t="t" l="l"/>
            <a:pathLst>
              <a:path h="6826559" w="11133074">
                <a:moveTo>
                  <a:pt x="0" y="0"/>
                </a:moveTo>
                <a:lnTo>
                  <a:pt x="11133074" y="0"/>
                </a:lnTo>
                <a:lnTo>
                  <a:pt x="11133074" y="6826559"/>
                </a:lnTo>
                <a:lnTo>
                  <a:pt x="0" y="6826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1734" y="1171575"/>
            <a:ext cx="1528453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ผลลัพธ์ของ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Result)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96250" y="3696743"/>
            <a:ext cx="11567662" cy="6070417"/>
          </a:xfrm>
          <a:custGeom>
            <a:avLst/>
            <a:gdLst/>
            <a:ahLst/>
            <a:cxnLst/>
            <a:rect r="r" b="b" t="t" l="l"/>
            <a:pathLst>
              <a:path h="6070417" w="11567662">
                <a:moveTo>
                  <a:pt x="0" y="0"/>
                </a:moveTo>
                <a:lnTo>
                  <a:pt x="11567662" y="0"/>
                </a:lnTo>
                <a:lnTo>
                  <a:pt x="11567662" y="6070418"/>
                </a:lnTo>
                <a:lnTo>
                  <a:pt x="0" y="6070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6250" y="847725"/>
            <a:ext cx="1149550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การถาม-ตอบ / ปรับแต่ง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</a:t>
            </a:r>
          </a:p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(Few-shot &amp; Context Prompt)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0370" y="2408893"/>
            <a:ext cx="14787260" cy="6386248"/>
          </a:xfrm>
          <a:custGeom>
            <a:avLst/>
            <a:gdLst/>
            <a:ahLst/>
            <a:cxnLst/>
            <a:rect r="r" b="b" t="t" l="l"/>
            <a:pathLst>
              <a:path h="6386248" w="14787260">
                <a:moveTo>
                  <a:pt x="0" y="0"/>
                </a:moveTo>
                <a:lnTo>
                  <a:pt x="14787260" y="0"/>
                </a:lnTo>
                <a:lnTo>
                  <a:pt x="14787260" y="6386247"/>
                </a:lnTo>
                <a:lnTo>
                  <a:pt x="0" y="6386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16230600" cy="80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 ของ P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rompt ใหม่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66386" y="3039351"/>
            <a:ext cx="3272794" cy="4713294"/>
          </a:xfrm>
          <a:custGeom>
            <a:avLst/>
            <a:gdLst/>
            <a:ahLst/>
            <a:cxnLst/>
            <a:rect r="r" b="b" t="t" l="l"/>
            <a:pathLst>
              <a:path h="4713294" w="3272794">
                <a:moveTo>
                  <a:pt x="0" y="0"/>
                </a:moveTo>
                <a:lnTo>
                  <a:pt x="3272793" y="0"/>
                </a:lnTo>
                <a:lnTo>
                  <a:pt x="3272793" y="4713294"/>
                </a:lnTo>
                <a:lnTo>
                  <a:pt x="0" y="4713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3395" y="3340700"/>
            <a:ext cx="6629993" cy="4110596"/>
          </a:xfrm>
          <a:custGeom>
            <a:avLst/>
            <a:gdLst/>
            <a:ahLst/>
            <a:cxnLst/>
            <a:rect r="r" b="b" t="t" l="l"/>
            <a:pathLst>
              <a:path h="4110596" w="6629993">
                <a:moveTo>
                  <a:pt x="0" y="0"/>
                </a:moveTo>
                <a:lnTo>
                  <a:pt x="6629993" y="0"/>
                </a:lnTo>
                <a:lnTo>
                  <a:pt x="6629993" y="4110596"/>
                </a:lnTo>
                <a:lnTo>
                  <a:pt x="0" y="4110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906" y="8078980"/>
            <a:ext cx="8171752" cy="114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ได้ไดอะแ</a:t>
            </a: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กรมแบบง่าย เช่น [Phone] -&gt; [Earbuds] -&gt; [Speaker] ซึ่งขาดรายละเอียดเชิงเทคนิคและสถาปัตยกรรมบลูทูธ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71575"/>
            <a:ext cx="16230600" cy="156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สะท้อนการเรียนรู้ของการได้มาของ </a:t>
            </a:r>
          </a:p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ผลลัพธ์แรก กับ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ผลลัพธ์ใหม่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14469" y="8055561"/>
            <a:ext cx="8447844" cy="152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การระ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บุโครงสร้าง Sequenc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 Diagram และระบุ Actor/Participant แต่ละฝ่าย ช่วยให้ได้โค้ด Mermaid ที่แสดงวิศวกรรมระบบ (Systems Architecture) ได้อย่างเป็นมืออาชีพ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5991"/>
            <a:ext cx="16230600" cy="312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การสร้างบทความ หรือ หนังสือ จาก LaTeX</a:t>
            </a: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(Overleaf)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70776" y="2778380"/>
            <a:ext cx="10146447" cy="6061514"/>
          </a:xfrm>
          <a:custGeom>
            <a:avLst/>
            <a:gdLst/>
            <a:ahLst/>
            <a:cxnLst/>
            <a:rect r="r" b="b" t="t" l="l"/>
            <a:pathLst>
              <a:path h="6061514" w="10146447">
                <a:moveTo>
                  <a:pt x="0" y="0"/>
                </a:moveTo>
                <a:lnTo>
                  <a:pt x="10146448" y="0"/>
                </a:lnTo>
                <a:lnTo>
                  <a:pt x="10146448" y="6061514"/>
                </a:lnTo>
                <a:lnTo>
                  <a:pt x="0" y="606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5774" y="1272479"/>
            <a:ext cx="1213472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Prompt)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6877" y="2616244"/>
            <a:ext cx="11394245" cy="6506810"/>
          </a:xfrm>
          <a:custGeom>
            <a:avLst/>
            <a:gdLst/>
            <a:ahLst/>
            <a:cxnLst/>
            <a:rect r="r" b="b" t="t" l="l"/>
            <a:pathLst>
              <a:path h="6506810" w="11394245">
                <a:moveTo>
                  <a:pt x="0" y="0"/>
                </a:moveTo>
                <a:lnTo>
                  <a:pt x="11394246" y="0"/>
                </a:lnTo>
                <a:lnTo>
                  <a:pt x="11394246" y="6506811"/>
                </a:lnTo>
                <a:lnTo>
                  <a:pt x="0" y="6506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1734" y="1171575"/>
            <a:ext cx="1528453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ผลลัพธ์ของ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Result)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06888" y="3435953"/>
            <a:ext cx="8474223" cy="6259179"/>
          </a:xfrm>
          <a:custGeom>
            <a:avLst/>
            <a:gdLst/>
            <a:ahLst/>
            <a:cxnLst/>
            <a:rect r="r" b="b" t="t" l="l"/>
            <a:pathLst>
              <a:path h="6259179" w="8474223">
                <a:moveTo>
                  <a:pt x="0" y="0"/>
                </a:moveTo>
                <a:lnTo>
                  <a:pt x="8474224" y="0"/>
                </a:lnTo>
                <a:lnTo>
                  <a:pt x="8474224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6250" y="847725"/>
            <a:ext cx="1149550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การถาม-ตอบ / ปรับแต่ง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</a:t>
            </a:r>
          </a:p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(Few-shot &amp; Context Prompt)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55405" y="2216382"/>
            <a:ext cx="12777189" cy="7305910"/>
          </a:xfrm>
          <a:custGeom>
            <a:avLst/>
            <a:gdLst/>
            <a:ahLst/>
            <a:cxnLst/>
            <a:rect r="r" b="b" t="t" l="l"/>
            <a:pathLst>
              <a:path h="7305910" w="12777189">
                <a:moveTo>
                  <a:pt x="0" y="0"/>
                </a:moveTo>
                <a:lnTo>
                  <a:pt x="12777190" y="0"/>
                </a:lnTo>
                <a:lnTo>
                  <a:pt x="12777190" y="7305911"/>
                </a:lnTo>
                <a:lnTo>
                  <a:pt x="0" y="7305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16230600" cy="80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 ของ P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rompt ใหม่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8836" y="3110954"/>
            <a:ext cx="3950836" cy="4593378"/>
          </a:xfrm>
          <a:custGeom>
            <a:avLst/>
            <a:gdLst/>
            <a:ahLst/>
            <a:cxnLst/>
            <a:rect r="r" b="b" t="t" l="l"/>
            <a:pathLst>
              <a:path h="4593378" w="3950836">
                <a:moveTo>
                  <a:pt x="0" y="0"/>
                </a:moveTo>
                <a:lnTo>
                  <a:pt x="3950836" y="0"/>
                </a:lnTo>
                <a:lnTo>
                  <a:pt x="3950836" y="4593378"/>
                </a:lnTo>
                <a:lnTo>
                  <a:pt x="0" y="4593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89672" y="3110954"/>
            <a:ext cx="3923399" cy="4593378"/>
          </a:xfrm>
          <a:custGeom>
            <a:avLst/>
            <a:gdLst/>
            <a:ahLst/>
            <a:cxnLst/>
            <a:rect r="r" b="b" t="t" l="l"/>
            <a:pathLst>
              <a:path h="4593378" w="3923399">
                <a:moveTo>
                  <a:pt x="0" y="0"/>
                </a:moveTo>
                <a:lnTo>
                  <a:pt x="3923399" y="0"/>
                </a:lnTo>
                <a:lnTo>
                  <a:pt x="3923399" y="4593378"/>
                </a:lnTo>
                <a:lnTo>
                  <a:pt x="0" y="4593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1612" y="3039201"/>
            <a:ext cx="4017357" cy="4736884"/>
          </a:xfrm>
          <a:custGeom>
            <a:avLst/>
            <a:gdLst/>
            <a:ahLst/>
            <a:cxnLst/>
            <a:rect r="r" b="b" t="t" l="l"/>
            <a:pathLst>
              <a:path h="4736884" w="4017357">
                <a:moveTo>
                  <a:pt x="0" y="0"/>
                </a:moveTo>
                <a:lnTo>
                  <a:pt x="4017357" y="0"/>
                </a:lnTo>
                <a:lnTo>
                  <a:pt x="4017357" y="4736884"/>
                </a:lnTo>
                <a:lnTo>
                  <a:pt x="0" y="4736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34926" y="3039201"/>
            <a:ext cx="4028259" cy="4736884"/>
          </a:xfrm>
          <a:custGeom>
            <a:avLst/>
            <a:gdLst/>
            <a:ahLst/>
            <a:cxnLst/>
            <a:rect r="r" b="b" t="t" l="l"/>
            <a:pathLst>
              <a:path h="4736884" w="4028259">
                <a:moveTo>
                  <a:pt x="0" y="0"/>
                </a:moveTo>
                <a:lnTo>
                  <a:pt x="4028259" y="0"/>
                </a:lnTo>
                <a:lnTo>
                  <a:pt x="4028259" y="4736884"/>
                </a:lnTo>
                <a:lnTo>
                  <a:pt x="0" y="47368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6906" y="8078980"/>
            <a:ext cx="8171752" cy="766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ได้โค้ดที่</a:t>
            </a: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มีแค่บทความ ไม่มีโครงสร้างตาราง การอ้างอิง หรือส่วนประกอบของเอกสารวิชาการที่สมบูรณ์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171575"/>
            <a:ext cx="16230600" cy="156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สะท้อนการเรียนรู้ของการได้มาของ </a:t>
            </a:r>
          </a:p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ผลลัพธ์แรก กับ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ผลลัพธ์ใหม่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14469" y="8055561"/>
            <a:ext cx="8447844" cy="152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ได้ซอร์สโค้ด LaTeX ที่มีโครงสร้างบทความวิจัยสม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บูรณ์ จัดหน้าสวยงาม มีตารางเปรียบเทียบ Codec ที่ใช้ \toprule, \mi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drule, \bottomrule พร้อมนำไปวางใน Overleaf เพื่อกด Compile เป็น PDF ได้ทันที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5991"/>
            <a:ext cx="16230600" cy="312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การสร้าง Slide สรุปงานด้วย</a:t>
            </a: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NotebookLM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2887915"/>
            <a:ext cx="13084230" cy="6370385"/>
          </a:xfrm>
          <a:custGeom>
            <a:avLst/>
            <a:gdLst/>
            <a:ahLst/>
            <a:cxnLst/>
            <a:rect r="r" b="b" t="t" l="l"/>
            <a:pathLst>
              <a:path h="6370385" w="13084230">
                <a:moveTo>
                  <a:pt x="0" y="0"/>
                </a:moveTo>
                <a:lnTo>
                  <a:pt x="13084230" y="0"/>
                </a:lnTo>
                <a:lnTo>
                  <a:pt x="13084230" y="6370385"/>
                </a:lnTo>
                <a:lnTo>
                  <a:pt x="0" y="6370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5774" y="1272479"/>
            <a:ext cx="1213472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Prompt)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3007474"/>
            <a:ext cx="13084230" cy="5724351"/>
          </a:xfrm>
          <a:custGeom>
            <a:avLst/>
            <a:gdLst/>
            <a:ahLst/>
            <a:cxnLst/>
            <a:rect r="r" b="b" t="t" l="l"/>
            <a:pathLst>
              <a:path h="5724351" w="13084230">
                <a:moveTo>
                  <a:pt x="0" y="0"/>
                </a:moveTo>
                <a:lnTo>
                  <a:pt x="13084230" y="0"/>
                </a:lnTo>
                <a:lnTo>
                  <a:pt x="13084230" y="5724351"/>
                </a:lnTo>
                <a:lnTo>
                  <a:pt x="0" y="5724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1734" y="1171575"/>
            <a:ext cx="1528453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ผลลัพธ์ของ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Result)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7083" y="3562825"/>
            <a:ext cx="7873834" cy="6156716"/>
          </a:xfrm>
          <a:custGeom>
            <a:avLst/>
            <a:gdLst/>
            <a:ahLst/>
            <a:cxnLst/>
            <a:rect r="r" b="b" t="t" l="l"/>
            <a:pathLst>
              <a:path h="6156716" w="7873834">
                <a:moveTo>
                  <a:pt x="0" y="0"/>
                </a:moveTo>
                <a:lnTo>
                  <a:pt x="7873834" y="0"/>
                </a:lnTo>
                <a:lnTo>
                  <a:pt x="7873834" y="6156716"/>
                </a:lnTo>
                <a:lnTo>
                  <a:pt x="0" y="6156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96250" y="847725"/>
            <a:ext cx="1149550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การถาม-ตอบ / ปรับแต่ง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</a:t>
            </a:r>
          </a:p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(Few-shot &amp; Context Prompt)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2696734"/>
            <a:ext cx="13084230" cy="5740706"/>
          </a:xfrm>
          <a:custGeom>
            <a:avLst/>
            <a:gdLst/>
            <a:ahLst/>
            <a:cxnLst/>
            <a:rect r="r" b="b" t="t" l="l"/>
            <a:pathLst>
              <a:path h="5740706" w="13084230">
                <a:moveTo>
                  <a:pt x="0" y="0"/>
                </a:moveTo>
                <a:lnTo>
                  <a:pt x="13084230" y="0"/>
                </a:lnTo>
                <a:lnTo>
                  <a:pt x="13084230" y="5740706"/>
                </a:lnTo>
                <a:lnTo>
                  <a:pt x="0" y="5740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16230600" cy="80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 ของ P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rompt ใหม่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6906" y="8078980"/>
            <a:ext cx="8171752" cy="38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สั่งเพียงให้สรุปเนื้อหาทั่วไป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16230600" cy="156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สะท้อนการเรียนรู้ของการได้มาของ </a:t>
            </a:r>
          </a:p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ผลลัพธ์แรก กับ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ผลลัพธ์ใหม่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82791" y="7900481"/>
            <a:ext cx="8447844" cy="114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ข้อมูลถูกจัดระเบียบให้เข้าใจง่ายขึ้นทันที เหมาะสำหรับการนำไปสร้างตารางเปรียบเทียบหรือกราฟิกแบบ Split-Screen บนสไลด์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16906" y="3670044"/>
            <a:ext cx="7890079" cy="3451909"/>
          </a:xfrm>
          <a:custGeom>
            <a:avLst/>
            <a:gdLst/>
            <a:ahLst/>
            <a:cxnLst/>
            <a:rect r="r" b="b" t="t" l="l"/>
            <a:pathLst>
              <a:path h="3451909" w="7890079">
                <a:moveTo>
                  <a:pt x="0" y="0"/>
                </a:moveTo>
                <a:lnTo>
                  <a:pt x="7890079" y="0"/>
                </a:lnTo>
                <a:lnTo>
                  <a:pt x="7890079" y="3451909"/>
                </a:lnTo>
                <a:lnTo>
                  <a:pt x="0" y="3451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14469" y="3670044"/>
            <a:ext cx="8184487" cy="3590944"/>
          </a:xfrm>
          <a:custGeom>
            <a:avLst/>
            <a:gdLst/>
            <a:ahLst/>
            <a:cxnLst/>
            <a:rect r="r" b="b" t="t" l="l"/>
            <a:pathLst>
              <a:path h="3590944" w="8184487">
                <a:moveTo>
                  <a:pt x="0" y="0"/>
                </a:moveTo>
                <a:lnTo>
                  <a:pt x="8184488" y="0"/>
                </a:lnTo>
                <a:lnTo>
                  <a:pt x="8184488" y="3590943"/>
                </a:lnTo>
                <a:lnTo>
                  <a:pt x="0" y="3590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455991"/>
            <a:ext cx="16230600" cy="312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5"/>
              </a:lnSpc>
            </a:pP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การเขียน Website เพื่อไปฝากบน</a:t>
            </a:r>
            <a:r>
              <a:rPr lang="en-US" sz="8416" spc="-31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GitHub Pages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47393" y="3152658"/>
            <a:ext cx="6793214" cy="6105642"/>
          </a:xfrm>
          <a:custGeom>
            <a:avLst/>
            <a:gdLst/>
            <a:ahLst/>
            <a:cxnLst/>
            <a:rect r="r" b="b" t="t" l="l"/>
            <a:pathLst>
              <a:path h="6105642" w="6793214">
                <a:moveTo>
                  <a:pt x="0" y="0"/>
                </a:moveTo>
                <a:lnTo>
                  <a:pt x="6793214" y="0"/>
                </a:lnTo>
                <a:lnTo>
                  <a:pt x="6793214" y="6105642"/>
                </a:lnTo>
                <a:lnTo>
                  <a:pt x="0" y="610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75774" y="1272479"/>
            <a:ext cx="1213472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Prompt)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2622735"/>
            <a:ext cx="13084230" cy="6443983"/>
          </a:xfrm>
          <a:custGeom>
            <a:avLst/>
            <a:gdLst/>
            <a:ahLst/>
            <a:cxnLst/>
            <a:rect r="r" b="b" t="t" l="l"/>
            <a:pathLst>
              <a:path h="6443983" w="13084230">
                <a:moveTo>
                  <a:pt x="0" y="0"/>
                </a:moveTo>
                <a:lnTo>
                  <a:pt x="13084230" y="0"/>
                </a:lnTo>
                <a:lnTo>
                  <a:pt x="13084230" y="6443984"/>
                </a:lnTo>
                <a:lnTo>
                  <a:pt x="0" y="6443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1734" y="1171575"/>
            <a:ext cx="15284532" cy="80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ผลลัพธ์ของ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แรก (Zero-shot Result)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0911"/>
            <a:ext cx="7782994" cy="5317389"/>
          </a:xfrm>
          <a:custGeom>
            <a:avLst/>
            <a:gdLst/>
            <a:ahLst/>
            <a:cxnLst/>
            <a:rect r="r" b="b" t="t" l="l"/>
            <a:pathLst>
              <a:path h="5317389" w="7782994">
                <a:moveTo>
                  <a:pt x="0" y="0"/>
                </a:moveTo>
                <a:lnTo>
                  <a:pt x="7782994" y="0"/>
                </a:lnTo>
                <a:lnTo>
                  <a:pt x="7782994" y="5317389"/>
                </a:lnTo>
                <a:lnTo>
                  <a:pt x="0" y="5317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873727"/>
            <a:ext cx="8368592" cy="3451757"/>
          </a:xfrm>
          <a:custGeom>
            <a:avLst/>
            <a:gdLst/>
            <a:ahLst/>
            <a:cxnLst/>
            <a:rect r="r" b="b" t="t" l="l"/>
            <a:pathLst>
              <a:path h="3451757" w="8368592">
                <a:moveTo>
                  <a:pt x="0" y="0"/>
                </a:moveTo>
                <a:lnTo>
                  <a:pt x="8368592" y="0"/>
                </a:lnTo>
                <a:lnTo>
                  <a:pt x="8368592" y="3451757"/>
                </a:lnTo>
                <a:lnTo>
                  <a:pt x="0" y="34517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96250" y="847725"/>
            <a:ext cx="11495500" cy="23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การถาม-ตอบ / ปรับแต่ง 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</a:t>
            </a:r>
          </a:p>
          <a:p>
            <a:pPr algn="ctr">
              <a:lnSpc>
                <a:spcPts val="9374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(Few-shot &amp; Context Prompt)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2839365"/>
            <a:ext cx="13084230" cy="5176449"/>
          </a:xfrm>
          <a:custGeom>
            <a:avLst/>
            <a:gdLst/>
            <a:ahLst/>
            <a:cxnLst/>
            <a:rect r="r" b="b" t="t" l="l"/>
            <a:pathLst>
              <a:path h="5176449" w="13084230">
                <a:moveTo>
                  <a:pt x="0" y="0"/>
                </a:moveTo>
                <a:lnTo>
                  <a:pt x="13084230" y="0"/>
                </a:lnTo>
                <a:lnTo>
                  <a:pt x="13084230" y="5176448"/>
                </a:lnTo>
                <a:lnTo>
                  <a:pt x="0" y="517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71575"/>
            <a:ext cx="16230600" cy="80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 ของ P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rompt ใหม่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t="0" r="-681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3121" y="3445865"/>
            <a:ext cx="7919323" cy="3900267"/>
          </a:xfrm>
          <a:custGeom>
            <a:avLst/>
            <a:gdLst/>
            <a:ahLst/>
            <a:cxnLst/>
            <a:rect r="r" b="b" t="t" l="l"/>
            <a:pathLst>
              <a:path h="3900267" w="7919323">
                <a:moveTo>
                  <a:pt x="0" y="0"/>
                </a:moveTo>
                <a:lnTo>
                  <a:pt x="7919323" y="0"/>
                </a:lnTo>
                <a:lnTo>
                  <a:pt x="7919323" y="3900267"/>
                </a:lnTo>
                <a:lnTo>
                  <a:pt x="0" y="3900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8891" y="3924331"/>
            <a:ext cx="8239001" cy="3259555"/>
          </a:xfrm>
          <a:custGeom>
            <a:avLst/>
            <a:gdLst/>
            <a:ahLst/>
            <a:cxnLst/>
            <a:rect r="r" b="b" t="t" l="l"/>
            <a:pathLst>
              <a:path h="3259555" w="8239001">
                <a:moveTo>
                  <a:pt x="0" y="0"/>
                </a:moveTo>
                <a:lnTo>
                  <a:pt x="8239000" y="0"/>
                </a:lnTo>
                <a:lnTo>
                  <a:pt x="8239000" y="3259554"/>
                </a:lnTo>
                <a:lnTo>
                  <a:pt x="0" y="3259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906" y="8078980"/>
            <a:ext cx="8171752" cy="152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b="true" sz="2699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มีการใช้ขนาดตัวอักษรเนื้อหา (Body Text) ที่ค่อนข้างใหญ่เกินไปเมื่อเทียบกับส่วนหัวข้อ (Heading) ทำให้พื้นที่หน้าจอมีความหนาแน่นของข้อความสูง ดูแออัด และลดทอนความเด่นของภาพประกอบสินค้า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71575"/>
            <a:ext cx="16230600" cy="156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สะท้อนการเรียนรู้ของการได้มาของ </a:t>
            </a:r>
          </a:p>
          <a:p>
            <a:pPr algn="ctr">
              <a:lnSpc>
                <a:spcPts val="5936"/>
              </a:lnSpc>
            </a:pP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ผลลัพธ์แรก กับ</a:t>
            </a:r>
            <a:r>
              <a:rPr lang="en-US" sz="6249" spc="-231">
                <a:solidFill>
                  <a:srgbClr val="162F6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ผลลัพธ์ใหม่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14469" y="8055561"/>
            <a:ext cx="8447844" cy="152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รับลดขนาดข้อความอธิ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บายให้กระชับและสมดุลกับพื้นที่ (Whit</a:t>
            </a:r>
            <a:r>
              <a:rPr lang="en-US" b="true" sz="2700">
                <a:solidFill>
                  <a:srgbClr val="162F6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espace) ทำให้หน้าเว็บดูโปร่ง สะอาดตา (Clean design) ช่วยดึงสายตาของผู้ใช้งานไปยังตัวสินค้าและหัวข้อหลักได้ดีขึ้น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DAHUnvnRLvw</dc:identifier>
  <dcterms:modified xsi:type="dcterms:W3CDTF">2011-08-01T06:04:30Z</dcterms:modified>
  <cp:revision>1</cp:revision>
  <dc:title>Blue White and Black Modern Tech Product Launch Presentation</dc:title>
</cp:coreProperties>
</file>